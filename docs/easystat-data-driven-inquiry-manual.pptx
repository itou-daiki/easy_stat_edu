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c6590edf44b0a" /><Relationship Type="http://schemas.openxmlformats.org/officeDocument/2006/relationships/extended-properties" Target="/docProps/app.xml" Id="Ra42840ee25e44f2d" /><Relationship Type="http://schemas.openxmlformats.org/officeDocument/2006/relationships/officeDocument" Target="/ppt/presentation.xml" Id="R016becbc11f1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b3c9582884ad9"/>
  </p:sldMasterIdLst>
  <p:notesMasterIdLst>
    <p:notesMasterId xmlns:r="http://schemas.openxmlformats.org/officeDocument/2006/relationships" r:id="Rf0a8129069184c57"/>
  </p:notesMasterIdLst>
  <p:sldIdLst>
    <p:sldId xmlns:r="http://schemas.openxmlformats.org/officeDocument/2006/relationships" id="256" r:id="Re3c8b256dd7a4261"/>
    <p:sldId xmlns:r="http://schemas.openxmlformats.org/officeDocument/2006/relationships" id="257" r:id="R3d06e12530864308"/>
    <p:sldId xmlns:r="http://schemas.openxmlformats.org/officeDocument/2006/relationships" id="258" r:id="R38e6fa91b99240a9"/>
    <p:sldId xmlns:r="http://schemas.openxmlformats.org/officeDocument/2006/relationships" id="259" r:id="R7cce97a9c9c34aa2"/>
    <p:sldId xmlns:r="http://schemas.openxmlformats.org/officeDocument/2006/relationships" id="260" r:id="Rc2aa0ca2be2448ee"/>
    <p:sldId xmlns:r="http://schemas.openxmlformats.org/officeDocument/2006/relationships" id="261" r:id="Rbc9d00dd9fdd4e76"/>
    <p:sldId xmlns:r="http://schemas.openxmlformats.org/officeDocument/2006/relationships" id="262" r:id="R70a65eb0eba44272"/>
    <p:sldId xmlns:r="http://schemas.openxmlformats.org/officeDocument/2006/relationships" id="263" r:id="Re70a4eaea8c44f7c"/>
    <p:sldId xmlns:r="http://schemas.openxmlformats.org/officeDocument/2006/relationships" id="264" r:id="Rc46f2953b8ae4a5b"/>
    <p:sldId xmlns:r="http://schemas.openxmlformats.org/officeDocument/2006/relationships" id="265" r:id="Re2ab8f1024c946b7"/>
    <p:sldId xmlns:r="http://schemas.openxmlformats.org/officeDocument/2006/relationships" id="266" r:id="R42ed0b941d374175"/>
    <p:sldId xmlns:r="http://schemas.openxmlformats.org/officeDocument/2006/relationships" id="267" r:id="R50ebb949d1e84c11"/>
    <p:sldId xmlns:r="http://schemas.openxmlformats.org/officeDocument/2006/relationships" id="268" r:id="Rcb7e27ed68b8400d"/>
    <p:sldId xmlns:r="http://schemas.openxmlformats.org/officeDocument/2006/relationships" id="269" r:id="Rfa5f6b93e54f4a33"/>
    <p:sldId xmlns:r="http://schemas.openxmlformats.org/officeDocument/2006/relationships" id="270" r:id="Reec84c70d90a45f9"/>
    <p:sldId xmlns:r="http://schemas.openxmlformats.org/officeDocument/2006/relationships" id="271" r:id="R9f92010f2f1f45cf"/>
    <p:sldId xmlns:r="http://schemas.openxmlformats.org/officeDocument/2006/relationships" id="272" r:id="R7bc5c8e7b3614ccb"/>
    <p:sldId xmlns:r="http://schemas.openxmlformats.org/officeDocument/2006/relationships" id="273" r:id="Rb9aa5d43f1e3493c"/>
    <p:sldId xmlns:r="http://schemas.openxmlformats.org/officeDocument/2006/relationships" id="274" r:id="R9cb4862632004301"/>
    <p:sldId xmlns:r="http://schemas.openxmlformats.org/officeDocument/2006/relationships" id="275" r:id="R34168456f7164871"/>
    <p:sldId xmlns:r="http://schemas.openxmlformats.org/officeDocument/2006/relationships" id="276" r:id="Re3b3cbcada564d01"/>
    <p:sldId xmlns:r="http://schemas.openxmlformats.org/officeDocument/2006/relationships" id="277" r:id="R7206eb6778124700"/>
    <p:sldId xmlns:r="http://schemas.openxmlformats.org/officeDocument/2006/relationships" id="278" r:id="Rd5bc3df569954a0a"/>
    <p:sldId xmlns:r="http://schemas.openxmlformats.org/officeDocument/2006/relationships" id="279" r:id="Refc1ff5bb4eb4e72"/>
    <p:sldId xmlns:r="http://schemas.openxmlformats.org/officeDocument/2006/relationships" id="280" r:id="R5c20bf47b8de4be5"/>
    <p:sldId xmlns:r="http://schemas.openxmlformats.org/officeDocument/2006/relationships" id="281" r:id="R64d78c70a73645ee"/>
    <p:sldId xmlns:r="http://schemas.openxmlformats.org/officeDocument/2006/relationships" id="282" r:id="Rc90143c2ed384fe8"/>
    <p:sldId xmlns:r="http://schemas.openxmlformats.org/officeDocument/2006/relationships" id="283" r:id="R7e49b696e4744649"/>
    <p:sldId xmlns:r="http://schemas.openxmlformats.org/officeDocument/2006/relationships" id="284" r:id="Rb1dbc78af3014139"/>
    <p:sldId xmlns:r="http://schemas.openxmlformats.org/officeDocument/2006/relationships" id="285" r:id="Rb38bab7bc6454ee9"/>
    <p:sldId xmlns:r="http://schemas.openxmlformats.org/officeDocument/2006/relationships" id="286" r:id="Rcefa5b5063e743e9"/>
    <p:sldId xmlns:r="http://schemas.openxmlformats.org/officeDocument/2006/relationships" id="287" r:id="Re195d7ab7ec147c7"/>
    <p:sldId xmlns:r="http://schemas.openxmlformats.org/officeDocument/2006/relationships" id="288" r:id="R4c1bcfd45da14c41"/>
    <p:sldId xmlns:r="http://schemas.openxmlformats.org/officeDocument/2006/relationships" id="289" r:id="R136c8a8ded914a97"/>
    <p:sldId xmlns:r="http://schemas.openxmlformats.org/officeDocument/2006/relationships" id="290" r:id="Rb2d2c942c8674ada"/>
    <p:sldId xmlns:r="http://schemas.openxmlformats.org/officeDocument/2006/relationships" id="291" r:id="Rb8368069b98e40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b3c9582884ad9" /><Relationship Type="http://schemas.openxmlformats.org/officeDocument/2006/relationships/theme" Target="/ppt/theme/theme1.xml" Id="R33e1f93c2f9b495c" /><Relationship Type="http://schemas.openxmlformats.org/officeDocument/2006/relationships/notesMaster" Target="/ppt/notesMasters/notesMaster1.xml" Id="Rf0a8129069184c57" /><Relationship Type="http://schemas.openxmlformats.org/officeDocument/2006/relationships/presProps" Target="/ppt/presProps.xml" Id="Rb3656b255b50470d" /><Relationship Type="http://schemas.openxmlformats.org/officeDocument/2006/relationships/viewProps" Target="/ppt/viewProps.xml" Id="Rdca2ef8388654eb4" /><Relationship Type="http://schemas.openxmlformats.org/officeDocument/2006/relationships/tableStyles" Target="/ppt/tableStyles.xml" Id="R5e55c6b10d3740cd" /><Relationship Type="http://schemas.openxmlformats.org/officeDocument/2006/relationships/slide" Target="/ppt/slides/slide1.xml" Id="Re3c8b256dd7a4261" /><Relationship Type="http://schemas.openxmlformats.org/officeDocument/2006/relationships/slide" Target="/ppt/slides/slide2.xml" Id="R3d06e12530864308" /><Relationship Type="http://schemas.openxmlformats.org/officeDocument/2006/relationships/slide" Target="/ppt/slides/slide3.xml" Id="R38e6fa91b99240a9" /><Relationship Type="http://schemas.openxmlformats.org/officeDocument/2006/relationships/slide" Target="/ppt/slides/slide4.xml" Id="R7cce97a9c9c34aa2" /><Relationship Type="http://schemas.openxmlformats.org/officeDocument/2006/relationships/slide" Target="/ppt/slides/slide5.xml" Id="Rc2aa0ca2be2448ee" /><Relationship Type="http://schemas.openxmlformats.org/officeDocument/2006/relationships/slide" Target="/ppt/slides/slide6.xml" Id="Rbc9d00dd9fdd4e76" /><Relationship Type="http://schemas.openxmlformats.org/officeDocument/2006/relationships/slide" Target="/ppt/slides/slide7.xml" Id="R70a65eb0eba44272" /><Relationship Type="http://schemas.openxmlformats.org/officeDocument/2006/relationships/slide" Target="/ppt/slides/slide8.xml" Id="Re70a4eaea8c44f7c" /><Relationship Type="http://schemas.openxmlformats.org/officeDocument/2006/relationships/slide" Target="/ppt/slides/slide9.xml" Id="Rc46f2953b8ae4a5b" /><Relationship Type="http://schemas.openxmlformats.org/officeDocument/2006/relationships/slide" Target="/ppt/slides/slide10.xml" Id="Re2ab8f1024c946b7" /><Relationship Type="http://schemas.openxmlformats.org/officeDocument/2006/relationships/slide" Target="/ppt/slides/slide11.xml" Id="R42ed0b941d374175" /><Relationship Type="http://schemas.openxmlformats.org/officeDocument/2006/relationships/slide" Target="/ppt/slides/slide12.xml" Id="R50ebb949d1e84c11" /><Relationship Type="http://schemas.openxmlformats.org/officeDocument/2006/relationships/slide" Target="/ppt/slides/slide13.xml" Id="Rcb7e27ed68b8400d" /><Relationship Type="http://schemas.openxmlformats.org/officeDocument/2006/relationships/slide" Target="/ppt/slides/slide14.xml" Id="Rfa5f6b93e54f4a33" /><Relationship Type="http://schemas.openxmlformats.org/officeDocument/2006/relationships/slide" Target="/ppt/slides/slide15.xml" Id="Reec84c70d90a45f9" /><Relationship Type="http://schemas.openxmlformats.org/officeDocument/2006/relationships/slide" Target="/ppt/slides/slide16.xml" Id="R9f92010f2f1f45cf" /><Relationship Type="http://schemas.openxmlformats.org/officeDocument/2006/relationships/slide" Target="/ppt/slides/slide17.xml" Id="R7bc5c8e7b3614ccb" /><Relationship Type="http://schemas.openxmlformats.org/officeDocument/2006/relationships/slide" Target="/ppt/slides/slide18.xml" Id="Rb9aa5d43f1e3493c" /><Relationship Type="http://schemas.openxmlformats.org/officeDocument/2006/relationships/slide" Target="/ppt/slides/slide19.xml" Id="R9cb4862632004301" /><Relationship Type="http://schemas.openxmlformats.org/officeDocument/2006/relationships/slide" Target="/ppt/slides/slide20.xml" Id="R34168456f7164871" /><Relationship Type="http://schemas.openxmlformats.org/officeDocument/2006/relationships/slide" Target="/ppt/slides/slide21.xml" Id="Re3b3cbcada564d01" /><Relationship Type="http://schemas.openxmlformats.org/officeDocument/2006/relationships/slide" Target="/ppt/slides/slide22.xml" Id="R7206eb6778124700" /><Relationship Type="http://schemas.openxmlformats.org/officeDocument/2006/relationships/slide" Target="/ppt/slides/slide23.xml" Id="Rd5bc3df569954a0a" /><Relationship Type="http://schemas.openxmlformats.org/officeDocument/2006/relationships/slide" Target="/ppt/slides/slide24.xml" Id="Refc1ff5bb4eb4e72" /><Relationship Type="http://schemas.openxmlformats.org/officeDocument/2006/relationships/slide" Target="/ppt/slides/slide25.xml" Id="R5c20bf47b8de4be5" /><Relationship Type="http://schemas.openxmlformats.org/officeDocument/2006/relationships/slide" Target="/ppt/slides/slide26.xml" Id="R64d78c70a73645ee" /><Relationship Type="http://schemas.openxmlformats.org/officeDocument/2006/relationships/slide" Target="/ppt/slides/slide27.xml" Id="Rc90143c2ed384fe8" /><Relationship Type="http://schemas.openxmlformats.org/officeDocument/2006/relationships/slide" Target="/ppt/slides/slide28.xml" Id="R7e49b696e4744649" /><Relationship Type="http://schemas.openxmlformats.org/officeDocument/2006/relationships/slide" Target="/ppt/slides/slide29.xml" Id="Rb1dbc78af3014139" /><Relationship Type="http://schemas.openxmlformats.org/officeDocument/2006/relationships/slide" Target="/ppt/slides/slide30.xml" Id="Rb38bab7bc6454ee9" /><Relationship Type="http://schemas.openxmlformats.org/officeDocument/2006/relationships/slide" Target="/ppt/slides/slide31.xml" Id="Rcefa5b5063e743e9" /><Relationship Type="http://schemas.openxmlformats.org/officeDocument/2006/relationships/slide" Target="/ppt/slides/slide32.xml" Id="Re195d7ab7ec147c7" /><Relationship Type="http://schemas.openxmlformats.org/officeDocument/2006/relationships/slide" Target="/ppt/slides/slide33.xml" Id="R4c1bcfd45da14c41" /><Relationship Type="http://schemas.openxmlformats.org/officeDocument/2006/relationships/slide" Target="/ppt/slides/slide34.xml" Id="R136c8a8ded914a97" /><Relationship Type="http://schemas.openxmlformats.org/officeDocument/2006/relationships/slide" Target="/ppt/slides/slide35.xml" Id="Rb2d2c942c8674ada" /><Relationship Type="http://schemas.openxmlformats.org/officeDocument/2006/relationships/slide" Target="/ppt/slides/slide36.xml" Id="Rb8368069b98e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b5f14421a0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4ee764ab14b71" /><Relationship Type="http://schemas.openxmlformats.org/officeDocument/2006/relationships/notesMaster" Target="/ppt/notesMasters/notesMaster1.xml" Id="Rfd04b66e8cb842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2df0d3d184dfa" /><Relationship Type="http://schemas.openxmlformats.org/officeDocument/2006/relationships/notesMaster" Target="/ppt/notesMasters/notesMaster1.xml" Id="R488a37b62ac9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1ca36ca77e4eb7" /><Relationship Type="http://schemas.openxmlformats.org/officeDocument/2006/relationships/notesMaster" Target="/ppt/notesMasters/notesMaster1.xml" Id="R5f304a151233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3ea878e6e40d2" /><Relationship Type="http://schemas.openxmlformats.org/officeDocument/2006/relationships/notesMaster" Target="/ppt/notesMasters/notesMaster1.xml" Id="R37fae01393494e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80a7b30eb4268" /><Relationship Type="http://schemas.openxmlformats.org/officeDocument/2006/relationships/notesMaster" Target="/ppt/notesMasters/notesMaster1.xml" Id="R3ecc7702fedd48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6c78dc7514869" /><Relationship Type="http://schemas.openxmlformats.org/officeDocument/2006/relationships/notesMaster" Target="/ppt/notesMasters/notesMaster1.xml" Id="Rbac2a9ebdcd441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bc4d5f7d54d9e" /><Relationship Type="http://schemas.openxmlformats.org/officeDocument/2006/relationships/notesMaster" Target="/ppt/notesMasters/notesMaster1.xml" Id="Ra809b4c53cca4f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7b6d7814de4d3e" /><Relationship Type="http://schemas.openxmlformats.org/officeDocument/2006/relationships/notesMaster" Target="/ppt/notesMasters/notesMaster1.xml" Id="R9552303ba4c443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63c383ce00425f" /><Relationship Type="http://schemas.openxmlformats.org/officeDocument/2006/relationships/notesMaster" Target="/ppt/notesMasters/notesMaster1.xml" Id="Rb3775784be9642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486b538264b60" /><Relationship Type="http://schemas.openxmlformats.org/officeDocument/2006/relationships/notesMaster" Target="/ppt/notesMasters/notesMaster1.xml" Id="Rf78aa45d586f4f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707da01cf4331" /><Relationship Type="http://schemas.openxmlformats.org/officeDocument/2006/relationships/notesMaster" Target="/ppt/notesMasters/notesMaster1.xml" Id="Ra5ba240919f04c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f5d7a1508d4138" /><Relationship Type="http://schemas.openxmlformats.org/officeDocument/2006/relationships/notesMaster" Target="/ppt/notesMasters/notesMaster1.xml" Id="R78468e0dfd8f4e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838e7c902e4db6" /><Relationship Type="http://schemas.openxmlformats.org/officeDocument/2006/relationships/notesMaster" Target="/ppt/notesMasters/notesMaster1.xml" Id="Ra737741487eb46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5cda74641b4a0f" /><Relationship Type="http://schemas.openxmlformats.org/officeDocument/2006/relationships/notesMaster" Target="/ppt/notesMasters/notesMaster1.xml" Id="Ra6e920fd650b41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409e3dea7d4c77" /><Relationship Type="http://schemas.openxmlformats.org/officeDocument/2006/relationships/notesMaster" Target="/ppt/notesMasters/notesMaster1.xml" Id="R47fbee5dfc734b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2f5d7bd0924392" /><Relationship Type="http://schemas.openxmlformats.org/officeDocument/2006/relationships/notesMaster" Target="/ppt/notesMasters/notesMaster1.xml" Id="R754228159d9f47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8493dbff8345ef" /><Relationship Type="http://schemas.openxmlformats.org/officeDocument/2006/relationships/notesMaster" Target="/ppt/notesMasters/notesMaster1.xml" Id="Rf4425c2a9c1b40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00780a4dc84cab" /><Relationship Type="http://schemas.openxmlformats.org/officeDocument/2006/relationships/notesMaster" Target="/ppt/notesMasters/notesMaster1.xml" Id="R9eb9e6780bed4c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d458b15c7949f1" /><Relationship Type="http://schemas.openxmlformats.org/officeDocument/2006/relationships/notesMaster" Target="/ppt/notesMasters/notesMaster1.xml" Id="R74e0de9e2dc846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dc04dc5e4541af" /><Relationship Type="http://schemas.openxmlformats.org/officeDocument/2006/relationships/notesMaster" Target="/ppt/notesMasters/notesMaster1.xml" Id="R7b9e13f152af4d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d8d0907e654ee8" /><Relationship Type="http://schemas.openxmlformats.org/officeDocument/2006/relationships/notesMaster" Target="/ppt/notesMasters/notesMaster1.xml" Id="R59a83c32d60d4d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7655921b604c03" /><Relationship Type="http://schemas.openxmlformats.org/officeDocument/2006/relationships/notesMaster" Target="/ppt/notesMasters/notesMaster1.xml" Id="R5fda17749b5e4a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012dd310084a18" /><Relationship Type="http://schemas.openxmlformats.org/officeDocument/2006/relationships/notesMaster" Target="/ppt/notesMasters/notesMaster1.xml" Id="Rd0fdca7f059c41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af99a9badb45dd" /><Relationship Type="http://schemas.openxmlformats.org/officeDocument/2006/relationships/notesMaster" Target="/ppt/notesMasters/notesMaster1.xml" Id="Rbe7c6206557d45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a5e0d24dbd49c4" /><Relationship Type="http://schemas.openxmlformats.org/officeDocument/2006/relationships/notesMaster" Target="/ppt/notesMasters/notesMaster1.xml" Id="R3ce8db79414840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6507ed1f854673" /><Relationship Type="http://schemas.openxmlformats.org/officeDocument/2006/relationships/notesMaster" Target="/ppt/notesMasters/notesMaster1.xml" Id="Re20e36d08c1a410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44860c76284b72" /><Relationship Type="http://schemas.openxmlformats.org/officeDocument/2006/relationships/notesMaster" Target="/ppt/notesMasters/notesMaster1.xml" Id="Rc1a80c3f53e04c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de851a529184723" /><Relationship Type="http://schemas.openxmlformats.org/officeDocument/2006/relationships/notesMaster" Target="/ppt/notesMasters/notesMaster1.xml" Id="R1189ca34522a48c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26b4bf833ab4ec7" /><Relationship Type="http://schemas.openxmlformats.org/officeDocument/2006/relationships/notesMaster" Target="/ppt/notesMasters/notesMaster1.xml" Id="R2e7283bf85464b7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569d0f91594b78" /><Relationship Type="http://schemas.openxmlformats.org/officeDocument/2006/relationships/notesMaster" Target="/ppt/notesMasters/notesMaster1.xml" Id="R7c09815e8fa3488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cff11e03fa4fbf" /><Relationship Type="http://schemas.openxmlformats.org/officeDocument/2006/relationships/notesMaster" Target="/ppt/notesMasters/notesMaster1.xml" Id="R827e8142a43c4c3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bf2ed36deb4845" /><Relationship Type="http://schemas.openxmlformats.org/officeDocument/2006/relationships/notesMaster" Target="/ppt/notesMasters/notesMaster1.xml" Id="Rbf57c68b2980417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0d1c96164b54478" /><Relationship Type="http://schemas.openxmlformats.org/officeDocument/2006/relationships/notesMaster" Target="/ppt/notesMasters/notesMaster1.xml" Id="R20aaf29a906041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d32d71bf4843cd" /><Relationship Type="http://schemas.openxmlformats.org/officeDocument/2006/relationships/notesMaster" Target="/ppt/notesMasters/notesMaster1.xml" Id="Rd0befd6d6e7c41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59c97a211084d68" /><Relationship Type="http://schemas.openxmlformats.org/officeDocument/2006/relationships/notesMaster" Target="/ppt/notesMasters/notesMaster1.xml" Id="R76149440f10e40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28d5e4fdbc497e" /><Relationship Type="http://schemas.openxmlformats.org/officeDocument/2006/relationships/notesMaster" Target="/ppt/notesMasters/notesMaster1.xml" Id="Rad68286562c6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b86529a084ee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ac54c7f62a94c34" /><Relationship Type="http://schemas.openxmlformats.org/officeDocument/2006/relationships/slideLayout" Target="/ppt/slideLayouts/slideLayout2.xml" Id="R91a4a2435747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a4a2435747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56a38d11f4d82" /><Relationship Type="http://schemas.openxmlformats.org/officeDocument/2006/relationships/image" Target="/ppt/media/image.png" Id="R0f445dd0d3da4aa5" /><Relationship Type="http://schemas.openxmlformats.org/officeDocument/2006/relationships/notesSlide" Target="/ppt/notesSlides/notesSlide1.xml" Id="R5d079932ae2f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94823e0584771" /><Relationship Type="http://schemas.openxmlformats.org/officeDocument/2006/relationships/notesSlide" Target="/ppt/notesSlides/notesSlide2.xml" Id="Re2b8a7e95245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f22cc42e1403c" /><Relationship Type="http://schemas.openxmlformats.org/officeDocument/2006/relationships/image" Target="/ppt/media/image2.png" Id="R4eef18e7913f4739" /><Relationship Type="http://schemas.openxmlformats.org/officeDocument/2006/relationships/image" Target="/ppt/media/image3.png" Id="Ra8155834d00f4380" /><Relationship Type="http://schemas.openxmlformats.org/officeDocument/2006/relationships/notesSlide" Target="/ppt/notesSlides/notesSlide3.xml" Id="Rabffe77896c44e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d7f8b01cc468f" /><Relationship Type="http://schemas.openxmlformats.org/officeDocument/2006/relationships/notesSlide" Target="/ppt/notesSlides/notesSlide4.xml" Id="R5ccb112ce26341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f3fbe1dca488e" /><Relationship Type="http://schemas.openxmlformats.org/officeDocument/2006/relationships/image" Target="/ppt/media/image4.png" Id="Rf2bef61a58bb41a7" /><Relationship Type="http://schemas.openxmlformats.org/officeDocument/2006/relationships/notesSlide" Target="/ppt/notesSlides/notesSlide5.xml" Id="R7efeb51a672249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4b7f879df4bd4" /><Relationship Type="http://schemas.openxmlformats.org/officeDocument/2006/relationships/image" Target="/ppt/media/image5.png" Id="R1a542d4798334989" /><Relationship Type="http://schemas.openxmlformats.org/officeDocument/2006/relationships/notesSlide" Target="/ppt/notesSlides/notesSlide6.xml" Id="R51aa590de4c3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f57998ce149ef" /><Relationship Type="http://schemas.openxmlformats.org/officeDocument/2006/relationships/image" Target="/ppt/media/image6.png" Id="R10cc898719f1498c" /><Relationship Type="http://schemas.openxmlformats.org/officeDocument/2006/relationships/notesSlide" Target="/ppt/notesSlides/notesSlide7.xml" Id="R60487cc08a25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fdde205e4426b" /><Relationship Type="http://schemas.openxmlformats.org/officeDocument/2006/relationships/image" Target="/ppt/media/image7.png" Id="R88794456f7704005" /><Relationship Type="http://schemas.openxmlformats.org/officeDocument/2006/relationships/notesSlide" Target="/ppt/notesSlides/notesSlide8.xml" Id="R944fccf56d6f4f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05ed61833482f" /><Relationship Type="http://schemas.openxmlformats.org/officeDocument/2006/relationships/image" Target="/ppt/media/image8.png" Id="Rf69351111b5b4452" /><Relationship Type="http://schemas.openxmlformats.org/officeDocument/2006/relationships/notesSlide" Target="/ppt/notesSlides/notesSlide9.xml" Id="Rd31aa4ed4d684f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9aa8400ce4a01" /><Relationship Type="http://schemas.openxmlformats.org/officeDocument/2006/relationships/notesSlide" Target="/ppt/notesSlides/notesSlide10.xml" Id="R8a0b04aac0fc49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fa9b1d89504cee" /><Relationship Type="http://schemas.openxmlformats.org/officeDocument/2006/relationships/notesSlide" Target="/ppt/notesSlides/notesSlide11.xml" Id="Re96c5d3bfaa649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54f3dac2844922" /><Relationship Type="http://schemas.openxmlformats.org/officeDocument/2006/relationships/notesSlide" Target="/ppt/notesSlides/notesSlide12.xml" Id="Rfd5d1747d8b945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ca603531343d9" /><Relationship Type="http://schemas.openxmlformats.org/officeDocument/2006/relationships/image" Target="/ppt/media/image9.png" Id="R1c48f85c498f46a0" /><Relationship Type="http://schemas.openxmlformats.org/officeDocument/2006/relationships/notesSlide" Target="/ppt/notesSlides/notesSlide13.xml" Id="R64a06d3eaa3143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3e7feb6a24f4d" /><Relationship Type="http://schemas.openxmlformats.org/officeDocument/2006/relationships/image" Target="/ppt/media/image10.png" Id="Ra8e182e9dbfc4eec" /><Relationship Type="http://schemas.openxmlformats.org/officeDocument/2006/relationships/notesSlide" Target="/ppt/notesSlides/notesSlide14.xml" Id="R60586d4195a044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9cd0138294b41" /><Relationship Type="http://schemas.openxmlformats.org/officeDocument/2006/relationships/image" Target="/ppt/media/image11.png" Id="R05eac27784a14ac8" /><Relationship Type="http://schemas.openxmlformats.org/officeDocument/2006/relationships/notesSlide" Target="/ppt/notesSlides/notesSlide15.xml" Id="Redf30077d5de42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7a80a230145d0" /><Relationship Type="http://schemas.openxmlformats.org/officeDocument/2006/relationships/image" Target="/ppt/media/image12.png" Id="R4561855528d94279" /><Relationship Type="http://schemas.openxmlformats.org/officeDocument/2006/relationships/notesSlide" Target="/ppt/notesSlides/notesSlide16.xml" Id="R4465be90fbb444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ffab0b427433d" /><Relationship Type="http://schemas.openxmlformats.org/officeDocument/2006/relationships/image" Target="/ppt/media/image13.png" Id="Re4627be64f7648d9" /><Relationship Type="http://schemas.openxmlformats.org/officeDocument/2006/relationships/notesSlide" Target="/ppt/notesSlides/notesSlide17.xml" Id="R6ca126293c6146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d20075bc044fe0" /><Relationship Type="http://schemas.openxmlformats.org/officeDocument/2006/relationships/image" Target="/ppt/media/image14.png" Id="R8c3c6dafa4224bc2" /><Relationship Type="http://schemas.openxmlformats.org/officeDocument/2006/relationships/notesSlide" Target="/ppt/notesSlides/notesSlide18.xml" Id="R271c2527a3e240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5d83a07574eaf" /><Relationship Type="http://schemas.openxmlformats.org/officeDocument/2006/relationships/image" Target="/ppt/media/image15.png" Id="Rab5b9a2838f8447f" /><Relationship Type="http://schemas.openxmlformats.org/officeDocument/2006/relationships/notesSlide" Target="/ppt/notesSlides/notesSlide19.xml" Id="Rafd8ea11809d45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c4c7102d54b9c" /><Relationship Type="http://schemas.openxmlformats.org/officeDocument/2006/relationships/image" Target="/ppt/media/image16.png" Id="Raeabc424f4e14f8c" /><Relationship Type="http://schemas.openxmlformats.org/officeDocument/2006/relationships/notesSlide" Target="/ppt/notesSlides/notesSlide20.xml" Id="Rcfa6338850764d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43c404b31413b" /><Relationship Type="http://schemas.openxmlformats.org/officeDocument/2006/relationships/image" Target="/ppt/media/image17.png" Id="R4b0546086ace4911" /><Relationship Type="http://schemas.openxmlformats.org/officeDocument/2006/relationships/notesSlide" Target="/ppt/notesSlides/notesSlide21.xml" Id="R5d48f25f37324f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af60e90374442" /><Relationship Type="http://schemas.openxmlformats.org/officeDocument/2006/relationships/image" Target="/ppt/media/image18.png" Id="R6e01b68d9ee54d2f" /><Relationship Type="http://schemas.openxmlformats.org/officeDocument/2006/relationships/notesSlide" Target="/ppt/notesSlides/notesSlide22.xml" Id="R92b55de96d3140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7721e84c946ea" /><Relationship Type="http://schemas.openxmlformats.org/officeDocument/2006/relationships/image" Target="/ppt/media/image19.png" Id="R7883101672884ca1" /><Relationship Type="http://schemas.openxmlformats.org/officeDocument/2006/relationships/notesSlide" Target="/ppt/notesSlides/notesSlide23.xml" Id="Re2ce1067050844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3df2c42c044a6" /><Relationship Type="http://schemas.openxmlformats.org/officeDocument/2006/relationships/image" Target="/ppt/media/image20.png" Id="Rc3b6c371bbea476d" /><Relationship Type="http://schemas.openxmlformats.org/officeDocument/2006/relationships/notesSlide" Target="/ppt/notesSlides/notesSlide24.xml" Id="R1e1b5511e6334f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ea19a727b94a03" /><Relationship Type="http://schemas.openxmlformats.org/officeDocument/2006/relationships/image" Target="/ppt/media/image21.png" Id="Re3bae59596874385" /><Relationship Type="http://schemas.openxmlformats.org/officeDocument/2006/relationships/notesSlide" Target="/ppt/notesSlides/notesSlide25.xml" Id="R4e9ec1f595da471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c5f8602d4747c8" /><Relationship Type="http://schemas.openxmlformats.org/officeDocument/2006/relationships/image" Target="/ppt/media/image22.png" Id="Rf3e150a3469d4bb0" /><Relationship Type="http://schemas.openxmlformats.org/officeDocument/2006/relationships/notesSlide" Target="/ppt/notesSlides/notesSlide26.xml" Id="R7b43fbd541d445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7a825635c94139" /><Relationship Type="http://schemas.openxmlformats.org/officeDocument/2006/relationships/image" Target="/ppt/media/image23.png" Id="R42fc101dbc8a40b2" /><Relationship Type="http://schemas.openxmlformats.org/officeDocument/2006/relationships/notesSlide" Target="/ppt/notesSlides/notesSlide27.xml" Id="R00c6227193db4a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bf42edad14cb3" /><Relationship Type="http://schemas.openxmlformats.org/officeDocument/2006/relationships/image" Target="/ppt/media/image24.png" Id="R686f7dd3a1054143" /><Relationship Type="http://schemas.openxmlformats.org/officeDocument/2006/relationships/notesSlide" Target="/ppt/notesSlides/notesSlide28.xml" Id="R6b873459aedf46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87433f553439a" /><Relationship Type="http://schemas.openxmlformats.org/officeDocument/2006/relationships/image" Target="/ppt/media/image25.png" Id="Rbfaf8047662945a6" /><Relationship Type="http://schemas.openxmlformats.org/officeDocument/2006/relationships/notesSlide" Target="/ppt/notesSlides/notesSlide29.xml" Id="R6264bd9b37bc4e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4c0a2fcdd24532" /><Relationship Type="http://schemas.openxmlformats.org/officeDocument/2006/relationships/image" Target="/ppt/media/image26.png" Id="Ra82afae1f4f64a59" /><Relationship Type="http://schemas.openxmlformats.org/officeDocument/2006/relationships/notesSlide" Target="/ppt/notesSlides/notesSlide30.xml" Id="Rb176049723d94dd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bca11a60943e2" /><Relationship Type="http://schemas.openxmlformats.org/officeDocument/2006/relationships/image" Target="/ppt/media/image27.png" Id="R978b3a0bf3c64a8d" /><Relationship Type="http://schemas.openxmlformats.org/officeDocument/2006/relationships/notesSlide" Target="/ppt/notesSlides/notesSlide31.xml" Id="Rad487e0ff96948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32245325bc4e0d" /><Relationship Type="http://schemas.openxmlformats.org/officeDocument/2006/relationships/image" Target="/ppt/media/image28.png" Id="R7e17aced338f4f47" /><Relationship Type="http://schemas.openxmlformats.org/officeDocument/2006/relationships/notesSlide" Target="/ppt/notesSlides/notesSlide32.xml" Id="R8bf165cdf6e8486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59db32a914be7" /><Relationship Type="http://schemas.openxmlformats.org/officeDocument/2006/relationships/image" Target="/ppt/media/image29.png" Id="Re102e2dddbdc4ce9" /><Relationship Type="http://schemas.openxmlformats.org/officeDocument/2006/relationships/notesSlide" Target="/ppt/notesSlides/notesSlide33.xml" Id="Rcd93cf1018b64f5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14d96c09e4aba" /><Relationship Type="http://schemas.openxmlformats.org/officeDocument/2006/relationships/image" Target="/ppt/media/image30.png" Id="Rae8c98b8d710412e" /><Relationship Type="http://schemas.openxmlformats.org/officeDocument/2006/relationships/notesSlide" Target="/ppt/notesSlides/notesSlide34.xml" Id="R2c04d37842434c6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413efb020d48ed" /><Relationship Type="http://schemas.openxmlformats.org/officeDocument/2006/relationships/image" Target="/ppt/media/image31.png" Id="R68398822d9464d32" /><Relationship Type="http://schemas.openxmlformats.org/officeDocument/2006/relationships/notesSlide" Target="/ppt/notesSlides/notesSlide35.xml" Id="Rdde36485728541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0f3d08ebf4d9b" /><Relationship Type="http://schemas.openxmlformats.org/officeDocument/2006/relationships/image" Target="/ppt/media/image32.png" Id="R0fdc6a14d6e04484" /><Relationship Type="http://schemas.openxmlformats.org/officeDocument/2006/relationships/notesSlide" Target="/ppt/notesSlides/notesSlide36.xml" Id="Ra7515d58e6c040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6F475-4A4F-458B-A5ED-7E67B850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BA8EC-AF15-4A33-8CE8-FCE58C1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"/>
            <a:ext cx="69151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8"/>
          </a:solidFill>
          <a:ln xmlns:a="http://schemas.openxmlformats.org/drawingml/2006/main" w="9525">
            <a:solidFill>
              <a:srgbClr val="28406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45dd0d3da4aa5"/>
          <a:srcRect xmlns:a="http://schemas.openxmlformats.org/drawingml/2006/main" l="5625" t="0" r="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47650"/>
            <a:ext cx="676275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00015-05AC-4BC3-A78C-2EBDDFC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4A6E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F2F53-00D2-44A9-B5E2-F2649008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43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easyStat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6CFB7-8224-4A30-93D7-1DAEBD2C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925" b="1">
                <a:solidFill>
                  <a:srgbClr val="F7FAFF"/>
                </a:solidFill>
                <a:latin typeface="Hiragino Mincho ProN"/>
                <a:ea typeface="Hiragino Mincho ProN"/>
                <a:cs typeface="Hiragino Mincho ProN"/>
              </a:rPr>
              <a:t>データ駆動型探究</a:t>
            </a:r>
          </a:p>
          <a:p xmlns:a="http://schemas.openxmlformats.org/drawingml/2006/main">
            <a:pPr algn="l">
              <a:defRPr sz="2925" b="1">
                <a:solidFill>
                  <a:srgbClr val="F7FA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925" b="1">
                <a:solidFill>
                  <a:srgbClr val="F7FAFF"/>
                </a:solidFill>
                <a:latin typeface="Hiragino Mincho ProN"/>
                <a:ea typeface="Hiragino Mincho ProN"/>
                <a:cs typeface="Hiragino Mincho ProN"/>
              </a:rPr>
              <a:t>スライドマニュアル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E1670-2DBE-4661-9671-26492459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問いを立て、データを読み、分析を選び、結果を根拠として語る。ブラウザだけで完結する探究授業の型を、実画面でたどります。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7AA35-77F8-4586-B781-F3AF52F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8B5C1-3E12-4D28-BCAA-FC2907C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actual screenshots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CC4F9-CEBE-49D9-AE90-3EE84C2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81B90-8E2F-4484-BF0A-AD821ED3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91025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classroom 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41CCF-4822-44A1-9087-C29A09C4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02A77-5445-4C5C-BAB6-7D0AC8C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探究ステップ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B5A15-3773-4E7E-B91E-B3C2901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683A1-DF59-48A7-A308-24B72C7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769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AI文脈監査済み機能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333AA-CD07-4C19-8F83-0C933F64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8D0D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8D0DC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3EDC6-557A-4BE4-A2B1-4B2073F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0D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27981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286ECC-6A36-404D-9DCE-FC2C81B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1E9E4C4-C65E-4D35-9D88-40D1AAAE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E28717D-9AA9-4863-93ED-531B6A9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INQUIRY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F9D8F-C65E-49B3-8BC2-627841A1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ツールの前に、探究の順番を固定する。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69201-CC8A-440A-881D-FEDEC00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easyStatは「問い」から「レポート」までを一続きの作業として扱うと強い。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78256-188B-4564-8FE1-2BCC463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6CC38-82AC-491E-A969-E8599DF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81494-673F-40AD-85B2-0066E39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3E2D3-4C5C-403A-9988-4E030519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問いを立てる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C263F-FEAF-43CA-B0FF-A4B9130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何を比べる／関係を見るかを1文にする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34475-BF25-4150-83F9-3A1F5E9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548B8-493F-4CF9-9FB6-47B883D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0B580-E8FB-428D-88A0-91819F6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1F415-AC06-4536-B462-361A73C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データを見る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71991-8487-4476-A094-B88B0BD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列の型・欠損・サンプル数を確認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9A28E-F547-4240-AD35-0482202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4F29B-2B1A-4EEA-AFD8-6D9BC41E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D0BC1-FE0C-4ABE-8B27-D0CF1FA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5ACDD-1585-4DD4-8F6C-9619137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分析を選ぶ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5550B-AE02-4FB5-B55A-E209E7EA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変数の型と目的から方法を決める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D2D1E-6BD2-4BD1-8088-F84818B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A03A0-202E-4EB3-858A-2FF0701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4C167-BEDB-47E5-AFD8-A96051AA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35717-3796-4EE1-9F91-305B3B4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結果を読む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7EE39-6A68-4E5D-B449-1E41B52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表・図・統計量をセットで見る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9C6AC-4C11-4C2C-8E04-778B315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969F4-105E-4F29-BF06-AD378AE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C7AD2-3CAC-4C8E-9E79-19D1F45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C88DC-174D-42F8-ABFB-B170BA03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妥当性を点検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02E052-308B-4E2C-8873-E2E76ABE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外れ値・前提・因果の限界を確認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23790-95ED-4E74-AB1F-6E36B9F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2B56D-5D51-4E1E-B82B-BD048417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FB698-A7C0-4ECC-8B1A-09C236C5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18DE4-86E5-463B-89EB-BFBB8C9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報告する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DA807A-70A1-48E6-8F40-10555231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根拠、意味、限界、次の問いを書く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A68D9-ABA6-4AFE-BD34-A3D6D282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57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6107AF-B3BD-4DB4-AA05-DB22F27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授業では「分析ボタンを押す」より先に、各ステップで何を判断したかをノートに残す。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C083B-9162-4E53-852D-51C0659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6BD515-90C2-4F81-A6E2-62A4225B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64EAB1-FA68-40FF-B5A9-2926BBB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残す記録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D632A7-71AB-4343-AE6E-3DF6A53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問い / 使った列 / 選んだ分析 / 主な数値 / 言えること / 言えないこと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052EBE-E80B-4E5F-B5F4-6672BB4A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1A93B0-8EBF-416F-8829-E4BB619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09989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19ABB-350E-4681-8F93-A37ACB0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60E309F-45E4-448D-B4D3-0600903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D4904D5-48A4-4EC1-B5F7-51E6B62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UPLOAD +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CBFE-E6DA-4352-B102-270C551D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最初の分析は、データの準備状態を見ること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3426E-0C3D-4E51-A2E5-7E72D62A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アップロード直後に、列名・型・欠損・先頭行を確認してから問いに戻る。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20B9-5593-446F-A553-7B74BF5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60579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f18e7913f4739"/>
          <a:srcRect xmlns:a="http://schemas.openxmlformats.org/drawingml/2006/main" l="1319" t="0" r="13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5905500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346D3-57CB-4E35-98AE-C17C06F1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5257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55834d00f4380"/>
          <a:stretch xmlns:a="http://schemas.openxmlformats.org/drawingml/2006/main"/>
        </p:blipFill>
        <p:spPr>
          <a:xfrm xmlns:a="http://schemas.openxmlformats.org/drawingml/2006/main">
            <a:off x="6515100" y="2096282"/>
            <a:ext cx="5105400" cy="205583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2BA19-9E14-46F2-BB4E-94A4C83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5105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D327-8981-4D24-A043-92246AB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A1C11-4B0D-4823-82AA-0344ECA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750F7-D769-4411-A046-A7027DB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4743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1. 行数は十分か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2. 数値・カテゴリ・テキスト列は何か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3. 欠損や表記ゆれはあるか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4. 目的変数と説明変数を分けられるか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1BB69-0EA5-4129-9373-4BFE27D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データプレビューは「計算前の安全確認」。ここで違和感を見つけるほど、後の解釈が強くなる。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B1643-4A76-4201-8682-84046C5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05807-4A7D-428F-84D3-34EE056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54453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89518-3E09-4619-87C3-2E6B6626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F52EE6F-3E1F-4625-821E-FB9D007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EE2311A-DE99-4156-9534-175C42F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QUESTION CANVAS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7A866-D564-4D9B-A3A6-0A24F83C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良い問いは、変数の役割まで書けている。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8B940-EADC-4950-8B5D-FE5534C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「何となく調べる」を卒業して、比較・関連・予測のどれをしたいかを決める。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04D7-8CA6-4881-A957-7ED148B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BC754-C760-40F1-ACBE-A8FE612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研究の問い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B03E8-8DF6-4A6B-9E42-2914EF1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FB892-D7ED-483B-99E7-83913D0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288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学習時間が長い生徒ほど、数学の得点は高いのか？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2617B-959E-4DC8-ACF6-4312597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FD5BA-0510-4F92-9538-91F216D7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目的変数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6CB03-852E-48F6-B15E-F4219FA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72A4B-795A-4552-8EA0-5018FAB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数学の得点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結果として説明したい値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6536B-2611-489B-9C04-E19A8F23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EA308-ED99-4AF2-8DC8-5CD0FB31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説明変数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739D0-2722-4DBC-AA54-E393D7D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DD1A3-715F-406A-A2AA-24F681EA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学習時間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差や関係の原因候補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7B403-30C0-4EC7-8DBE-056EC46C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F6064-B410-49BA-B050-6CD0BB9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統制・注意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2AE35-0316-483D-9447-FE1D74B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7AE6E-67C5-4A34-9827-5048952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クラス、性別、欠損、外れ値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結果をゆがめる可能性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06085-C706-49E8-A483-69F424D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90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問いの型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FC82C-8B58-4B02-BEB1-44A1954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52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C77D3-4979-4964-8993-F8324410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00275"/>
            <a:ext cx="1009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比較する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4A298-CE1D-489C-8135-365D0976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289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C512F-5080-4ACC-8813-F28C13C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76525"/>
            <a:ext cx="1009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関係を見る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A998F-7960-40F3-886D-0B009BD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051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340DF-7E93-4B10-A297-9E49255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52775"/>
            <a:ext cx="1009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予測する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2EFBB-149E-4143-A76B-34A7F83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814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9D599F-ECB1-4B1F-84CF-6025C4A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29025"/>
            <a:ext cx="1009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分類する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24537-DECC-4E1E-8090-D913B76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87EEA-49C1-406C-A5D9-5BB6494E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46705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7A30D-A5B5-40E3-8C68-B93E3104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6DEF0E6-CA66-440D-BE3D-6C92A6F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B9D8543-9C4A-49D3-B7FA-7F4F047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METHOD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B45E5-9BB1-44D4-8E6B-1B560DA4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分析サポーターは、変数から選ぶ理由を作る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58F0-F2EC-4E51-A248-C6F5502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高校生には、分析名の暗記より「なぜその分析か」を説明できることが重要。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0F6B-5D16-49D2-B225-8F1DF545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71056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ef61a58bb41a7"/>
          <a:srcRect xmlns:a="http://schemas.openxmlformats.org/drawingml/2006/main" l="0" t="26837" r="0" b="26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695325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91878-6F00-4364-BAEC-6FACCFC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981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393A6-B869-463B-9183-93C9ECCB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A40E-5BA3-4B7A-93EB-AD73653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授業での問いかけ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0AA7E-A09F-445C-9EFD-B4012B4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3619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選んだ変数は数値かカテゴリか？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2群か3群以上か？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差を見たいのか、関係を見たいのか？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結果の指標は何を見るのか？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9956E-5515-4271-B37D-C23E0BF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981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5E258-F16F-4E53-8E37-F8D9B43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EA90C-A9A2-4400-9FFC-91D256C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ノートに残す文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FA825-6BE9-4E11-B47C-FFEAEB9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910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「今回は◯◯と◯◯の関係を見たい。どちらも数値変数なので、まず相関分析を使う。」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4429E-D471-467E-B927-FA92B21F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43BF6-CFB6-4957-A0A2-6B3B3CC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91515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87858-F125-4071-924C-14ACA3C4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CDE57548-1A97-4D1D-86D0-E9EC23E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6D8A1D5-B072-454B-A600-13D5518A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DATA PREP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6E340-2A11-4122-87DE-B23F9AF7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データ処理は、結論を変えうる分析上の判断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B230E-AA84-4105-8032-D98B62B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欠損、外れ値、再コード化を「何となく」処理せず、処理前後を残して説明する。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9CF40-9AA0-4EFB-AB60-464C5987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76771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42d4798334989"/>
          <a:srcRect xmlns:a="http://schemas.openxmlformats.org/drawingml/2006/main" l="0" t="3418" r="0" b="3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752475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13CD6-EB10-4DD1-9E05-E253555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650E7-4DBF-49E2-8F09-9CAF1AB4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B1521-4E48-4367-8202-B247141A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欠損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44CAE-F9BF-4277-B5C8-EE51BA1A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621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削除か補完かを明記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5354F-792A-45D1-93F4-F2E3A2C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F7E42-17EA-41B5-B97A-F1D030B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F1D94-CE5C-4003-9340-1EA3BB6E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外れ値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1DFD0-E457-4EDE-9105-8A8A473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理由なしに消さない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A887-9AE5-4AD3-BB27-AA55546E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F6F49-6EA3-400D-A8C6-6255590C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EC0B5-751F-421C-BFBB-8B85B1F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再コード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6AD95-EC60-4025-8E9C-D016C04F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元の意味を保つ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6C12D-8BC6-4DD2-8D2F-12F7517C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E2307-83A1-46FC-83D9-4265095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3CF65-5A6C-41EE-85CD-9A19CF0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結合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B247C-10B3-4FEE-84BC-1DC76F06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05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キーと行数を確認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C967C-1E35-42A5-B1A3-08ED9E9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BA488-CC18-44CD-A637-3E79B68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68689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CA2CA-58FB-4D4D-8CB2-4C73ED1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B275422-2A2B-4933-B88C-FBB44443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FF47DF89-BF19-4E0B-B68F-F1D0B16A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EDA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72832-EDA0-41E9-87E6-03F03C83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検定の前に、分布と外れ値を見ておく。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2B04A-E4F5-42B2-BFEE-F53084BC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EDAは「有意差があるか」ではなく、データの癖をつかむための安全装置。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C58A2-EE22-490A-8908-C6F7BC7F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739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c898719f1498c"/>
          <a:srcRect xmlns:a="http://schemas.openxmlformats.org/drawingml/2006/main" l="0" t="3053" r="0" b="3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7239000" cy="424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25B66-B592-4BC2-85A9-4A90E82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1AF4B-DABA-489C-81C4-65593C58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平均と中央値は離れていないか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18230-A70D-4852-949E-59995C3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3FE31-7736-4D8E-A955-49BC02F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サンプルサイズは十分か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2FCF0-E480-4606-A468-1C17ED74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553DB-288B-4969-A669-68D2ED6A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外れ値が図に出ていないか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65126-8171-45F6-B454-86D14C7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914E2-3AFC-4AA5-849E-19A4467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群ごとの人数に偏りはないか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46409-2940-4058-ADB8-5181692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FEBE9-9D46-44F7-96B1-F186364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6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次に使う分析は問いと合うか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FF573-4B5D-424F-A785-142D5D8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149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EDAで違和感を見つけたら、分析方法ではなく問いやデータ処理に戻る。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248D4-8307-4646-AA18-E7816AA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A25F4-CE5B-40C0-82D5-07431177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6480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4E772-F0FB-4C49-9356-74DC4E0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9EFCAC7-07C9-405B-A13A-52A39D53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F1CD1DA-EB89-43D3-A1DC-08A8E75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READ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924A5-4893-4EA4-8013-704B4B9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結果は、表・図・解釈の3点セットで読む。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8DF9A-A45C-4063-A0BC-70D777A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相関分析なら、係数の大きさ、p値、散布図の形、因果の限界をまとめて確認する。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AFE06-C426-4D9D-A7F2-1726348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8077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94456f7704005"/>
          <a:srcRect xmlns:a="http://schemas.openxmlformats.org/drawingml/2006/main" l="0" t="4808" r="0" b="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79248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C1B15-CDCF-4521-AADC-E62574F2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3A06D-C98E-4FBE-AB13-6A79C19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B6DAE-AD2A-4F48-AA60-1948E598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読む順番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B17AE-B8C9-4350-80BA-F57ACCE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686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1. 変数名を確認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2. 統計量を見る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3. 有意性を見る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4. 効果の大きさを見る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5. 図で外れ値を確認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F6F0C-A029-430A-B3AE-F883418E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C42CC-7464-438E-B4B7-8165A063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26DBC-57A7-4383-A4CA-327B283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禁止ワード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EB483-2DBE-4E33-8134-E97F275F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72000"/>
            <a:ext cx="2686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相関だけで「原因」と言わない。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「関係がある可能性」までに止める。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EB69C-33B1-4E7C-8C96-A9223E11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B433-DCC5-479E-91E6-5D17B7B4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71199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F055D-6535-4A45-B98C-FDD5F19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1A72D356-6177-4BC2-A83F-D2D564D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2CC67FD-1475-4A38-B6E4-3F6C16D6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458E9-BCD7-49BD-9A20-71FF56C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生成AIは、結果を読む補助役として使う。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B83FC-FF29-40DD-B700-B536E33B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AIには、先頭10件、要約統計、分析手法、結果表、妥当性チェックが渡される。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68CE2-9716-4428-A43A-AFD47F2A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76400"/>
            <a:ext cx="81724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351111b5b4452"/>
          <a:srcRect xmlns:a="http://schemas.openxmlformats.org/drawingml/2006/main" l="0" t="5344" r="0" b="53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802005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3B39B-65A6-4DA1-99F0-85656D46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3009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24294-30A7-487B-B66D-BB1FC44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02A72-A447-4EF9-8232-C46DB4B4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AIに任せること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462CF-354B-4CB9-AD80-AAA35D0F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2647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結果の要約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レポート文の下書き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注意点の洗い出し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F6266-DD25-44CB-91BD-AEC9CDC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3009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04801-2E05-4EED-B477-1EECF356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8887-C742-4E47-B284-936E2E1C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766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人間が決めること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BD3AA-9692-48BA-8A4C-1D628708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647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問いの妥当性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データの意味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結論の強さ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次の探究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D2015-B364-4596-8196-8CCAE1C1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APIキーがない場合は、AI用テキストをコピーして任意の生成AIへ貼り付ける。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D3D82-C170-4859-BFA7-0B64A0C0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6864C-79C6-4570-8864-24F3B79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38087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01067-FD0A-44FB-AD0F-E925962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E7F0378D-2033-4FE3-B91C-5DA318D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618162A-A5B4-4104-BCD6-24CD6FE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VALIDITY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D6F19-6653-4E4B-B7BF-82DA0E95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「言えること」と「言えないこと」を分ける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0345-C128-4CCE-9899-C56D615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統計的に正しい結果でも、問い・データ・研究デザインを超えた結論は書かない。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069B5-B479-43C5-A3B0-8D31F31E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チェック項目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E041-50A3-42F0-843B-FACE3158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見ること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A1E58-42EB-4653-9662-1EC2CA5E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レポートでの扱い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BAE4C-1225-4D31-B153-AF4E773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6B472-0767-4430-922A-1C42C7D8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サンプル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3523B-A58C-4EFC-81B4-7DBA02D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288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人数は十分か。偏った集団ではないか。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8266F-7870-4617-9608-78ACE53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288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一般化しすぎない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9489B-881A-47E0-BBB0-62CB8DE2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05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66B2E-A122-49E0-A085-6DE90A1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162B8-4F76-4CAC-A65C-B1B8B0CC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欠損・外れ値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BFDB3-A765-4754-A876-6D3A925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処理前後で結果が大きく変わらないか。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455DA-A695-4BB0-BF91-637737A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処理ルールを明記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004D8-44FE-43EF-9202-8DF189B4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AB180-54B1-4A09-A799-71FA10CE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2A534-883D-406F-A895-E118910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分析の前提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4C69C-D9E7-432F-9F67-69757A3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909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群数、変数型、対応あり/なしは合っているか。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B9ACD-65C1-415E-A16D-EDB33D9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方法選択の理由を書く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35E85-2930-4B5D-B9F3-E6E1F0BB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6B1C7-115C-4782-A876-218805E1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C7848-22D7-42B5-89D4-29234C2E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因果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363FA-7E26-482D-93D4-7D61FBC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相関・回帰だけで原因と言っていないか。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8A76A-BD2F-4FB7-86A9-A82360F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関係・予測に留める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02669-7DE8-48ED-BA83-262F67B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48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2F4B0-D7F0-4B7B-9D1E-98F39F00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114AD-F63A-45E7-B285-C6CE86E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効果量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3D464-045C-43D8-A6C7-5C4B539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530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p値だけでなく大きさを見たか。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AD465-9185-4AA6-827C-2C562A22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実質的意味を書く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A41F5C-8A23-4305-9ED8-9F8856B6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437D4-6062-4733-95E8-D58C094E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701A47-085E-468A-A525-73FD405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28961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578DA0-0A04-49BF-911A-D07C400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4C4B6211-CFE7-4491-B7AC-F063401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2DE9C782-B8FB-4821-80D8-33D61FF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 RECIPE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95184-C216-469C-B72E-116ABF1D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8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レポートは、数字を文章に変換する作業。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02785-021E-40E0-ADE2-7FB2A63E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「結果」「意味」「限界」「次」を同じ順番で書けば、初学者でも筋の通った説明になる。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E0F1D-1D3E-41A2-B3BB-C9821563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C706A-818D-413C-9B51-6ED5267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203C-9B46-4C84-9DCC-CB1449B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526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D65F6-80D4-4A9C-842E-08D21CD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◯◯と◯◯の間には、r = __, p = __ の関係が見られた。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AC35E-5BF9-4F87-8493-DC7A7B4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308D0-5835-47CA-A5CB-10C7ACFF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意味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6DCBF-1AAB-4944-944B-0CAA698E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2EA2-D7B3-476F-ABB4-4EA0FE5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これは、__ が高いほど __ も高い傾向があることを示す。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1F523-8FB6-4F6A-815B-BA5EAC00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B0EA7-8017-4850-A4A9-FAA68806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限界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7608B-2940-4AF3-92D7-6D516A6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195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141AA-ACF6-4F3D-9917-DA6DC38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ただし、この結果だけでは因果関係は判断できない。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5BFE3-04A9-48A1-BE38-61EC00D3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A139B-C78F-414D-951D-0857C448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48ECE-882D-49CA-A9EB-0B90E88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5295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8BC4B-FB50-48A9-8334-DEC8BD7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今後は __ を加えて、別の要因の影響も確認する。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745C3-6850-42B9-A41E-040CBB5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AIの文をそのまま提出せず、結果表の数値と自分の問いに合わせて書き換える。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3D9E1-2A9C-4618-A81D-1BBA172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69CB6-8062-481B-9E86-F7067D62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4358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722283-D37A-4EDE-B59A-846CE19B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A1435-29CE-406C-99D0-C113EC45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4095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3375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50分で回す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3375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データ探究授業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5127E-C17D-4716-8908-F7A39AE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小さく始め、結果を問いに戻す。最後は「次の探究」まで書いて終える。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703C2-853E-4632-96A9-B5C488DF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CD068-52BA-45AE-8D2D-B09298E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667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0–5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6FA5C-44E3-4F7A-9C4F-04EBE3D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953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978A2-C410-4636-A209-9FF1ED4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620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今日の仮説を1文で書く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20EB4-A94E-488C-9C37-33623845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3B865-439F-4596-9E2F-5F36A1A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667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5–12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C1A90-835B-4FFF-B059-936DB66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953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準備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D773C-DECE-43CD-9639-FEDFB65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1620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アップロード、型、欠損を確認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60FBF-3D2F-44F3-ADB3-2A3BDB2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30E26-5EB3-4C69-9CB9-280C731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12–20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F37E-66CD-45BA-ABF3-0F2D9B4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717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選択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FBDF1-D804-45A1-B749-730B2EF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分析サポーターで方法を決める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AE883-AED5-4546-9D65-2437A76D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6E7FF-A6EB-4900-801A-562917E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20–34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9E43B-6D1A-4479-B373-F3C72C0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717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5AFDA-6F8C-4441-96E4-D829B30D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EDAと主要分析を実行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70EC4-A9D7-42DD-B048-0BBB850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AABBE-363A-4A6D-9A9E-2553D9C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195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34–44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6D7AB-ADDC-4054-872F-667F94D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81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解釈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39669-DD77-4592-9323-42C4A2D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AI補助と妥当性チェック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2593B-F11C-4A20-9C8E-1E1DEF9A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44339-796B-4464-BED8-A81176B2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44–50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D6351-7239-44E1-BC0F-E0911DF4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481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共有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FE6C5-857E-46B8-95EB-FA366B8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C8D0DC"/>
                </a:solidFill>
                <a:latin typeface="Hiragino Sans"/>
                <a:ea typeface="Hiragino Sans"/>
                <a:cs typeface="Hiragino Sans"/>
              </a:rPr>
              <a:t>結果・限界・次の問いを発表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BB65C-561B-48E2-92CE-BF67526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DE2A9-ED61-4396-8D53-8C1D2F8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分析結果表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B321E-115D-4E8B-AB2D-2634372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72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C81469-D2A6-4581-BB49-9A28C5C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F4E61B-03BD-4F08-BA45-060DADD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90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E5BB1-5B53-4A5F-8CAC-53F0A9BA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次の問い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645D6D-E221-4728-9FD5-26919A79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8D0D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8D0DC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94114-3544-4A0C-9F92-9983988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0D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68992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08F10-642C-4E54-8A5C-7CD74C1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9F596-C0EA-4C07-AA4D-4B907863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46229-C358-41FA-8457-96CC55D7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0699F-BE07-4D96-9D49-B51E503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31774-D92C-4CC9-B323-B5E1F23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EDA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77EDD-CD74-4A4A-ADE4-9A85144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D03BC-2982-4E28-BCEE-8A2EE31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A3C88-0D97-4DB0-8A97-87087142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4D46-B4B0-4F01-B7F5-8F2C22EE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探索的データ分析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90612-5123-49AD-9F04-E65A80AD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EDAは、検定前にデータの癖を見つける入口。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3414B-32C8-40BB-9F13-3694AD1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まず「どの列が使えるか」を観察する。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6A34F-8AD8-4389-86B9-131006F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8f85c498f46a0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D566C-3CD5-4B1E-AF5F-D8E4E87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C6CE1-BE4F-4B2C-BD17-99F2220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39DA5-BA6F-4681-B2AA-22477B4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E1DED-3250-4B2A-B8FE-833B28A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3620E-FCFF-436D-93C1-CCD6F5A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平均・中央値・標準偏差で中心とばらつきを見る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E5A6F-5B79-415D-AAE9-BF50585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15240-A9FC-4870-AE03-D17E2BB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ヒストグラムや箱ひげ図で外れ値と偏りを確認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9BF7-1909-4D1E-B5AB-ADB47922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E9014-B6AE-48E6-B8AD-B62BA944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ここで違和感があれば、問いや前処理に戻る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E9167-F2D8-45C8-AE6B-FFAC753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CFA5E-DF9C-485D-B3F8-AF05A9A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397D7-7465-473F-80E3-34A5A7A2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615A0-7BA9-49E8-9CD0-F15394F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36065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BFA3B-337A-4169-83D1-147DBE8D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2A0BF-1968-4C86-81A8-8E89784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F37EB-6407-4FED-B5C1-063D345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27E3-C300-4D4B-B9CD-A3094D50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9537C-C6CD-41F6-8577-B9F91E9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EDA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BF8DF-586C-46E1-B6C7-0CC5087B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75ACE-9158-40A4-858A-9B5A1DD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C9A0A-7B0D-4882-9924-D0E6516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E8539-2CDE-4A10-B5A8-5635009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探索的データ分析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F5DC3-A9CB-4CD0-8E76-7500E6B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変数を選ぶときは、見たい関係の型を先に決める。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931F7-13B7-4D42-AF88-B51FBE75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学習時間と数学の関係を散布図で見る。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E21C8-D998-4A9D-8D37-8F8C2A8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182e9dbfc4eec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B20C6-3D25-42E9-B037-52D5178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885B9-030B-4D73-A869-218FA6DE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F53A5-3C8F-4D3B-9496-274C1785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7B19F-62EB-43FD-B261-16719A47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BEFA2-8379-43D9-954D-34BD0F76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1変数なら分布、2変数なら関係、3変数なら層別を見る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F5E3D-4AEB-4054-A8BF-A7A99912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CA91B-2A45-427C-BF42-4230740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数値×数値は散布図、カテゴリ×数値は群別比較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6BD82-4841-49D3-8E20-7D6DE02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57AC0-8F86-4E5D-9535-91F0C1F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EDAでは仮説検定の結論まで急がない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2F8B6-5D50-42B8-A484-6E06A01A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F8704-126E-4054-9B3C-A0BFF334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00C3B-0DCA-4935-8E07-55C9FDC5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85C34-8593-4010-9DF9-0F613F7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76972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3201E-90AC-4FA7-8DC9-2085F65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70454-21E0-4A53-9116-439D7E5E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FA39A-13F9-4F89-8ACF-90CE81E6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640F5-AC71-4297-83FF-ADE19B8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58411-91E4-4C8D-9E6F-A3A758D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EDA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0851E-7B9D-4CA0-9512-C4126C0D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A61B9-CDC2-43CF-910A-3033F6D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9DD01-F52A-4CDD-8DC7-8CFDC60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0C49D-90B4-41DF-8EDD-8B0BCA00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探索的データ分析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F7BE7-583E-4284-BC1D-FABC2D2F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EDAの結果は、次に選ぶ分析の理由になる。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7FB3B-5CCC-4B14-80C9-1400675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「有意か」ではなく「どう見えるか」を言語化する。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442CD-4625-4B12-8CF3-3029284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ac27784a14ac8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1175-433D-4DF7-A392-B6AFBC82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969F3-94C7-408E-9A9A-6B8FC960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A4731-C4F3-4904-8C7F-01D94AF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D5BE2-0F37-416F-9432-A8003D03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51FAE-9903-46CF-9DC7-2105BCB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点の並びが右上がりなら正の関係を疑う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E943C-D2B0-4995-B250-0C38F3C6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F8279-3FD9-4AD1-9BFF-AEDF884C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極端な点が1つだけ結論を動かしていないか見る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F7131-2889-4B1B-A9A7-C8805F7E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619DF-5C81-4C3D-9917-C54B854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分布の形や外れ値をレポートの注意点に書く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F0CC9-9114-4C4B-809D-DE50ADCB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95F1B-A95E-44CF-B902-06888D3C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4F29E-0507-4111-9AC6-77590D86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3E0B4-4B14-4CAA-9EAE-DB5A6B2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7375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699D8-5DDB-414F-8103-EC68A82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11274-94BA-485F-AD04-F525F6D5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CA75-DE51-4B78-BF4B-CA48D90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ED3F3-D533-476B-8D2E-76EEDFDD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8F325-6416-4A11-934E-4FF7DF22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CROSSTAB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91DE8-2830-48D1-A782-9A9298B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A4BC1-2431-4B1D-878F-D513C9BF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353F6-8C1B-4521-A503-329F9C9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27C6-5E0D-418E-8893-E37A84C9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クロス集計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FF51D-636D-4871-824D-B921F0AB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クロス集計は、カテゴリ同士の内訳を表で見る。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FCED0-36AE-4B5A-A87F-9268DCF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クラス別に満足度の分布が違うかを見る。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7870A-3D22-4E60-BB19-3A7DF98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1855528d94279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E5C6F-F9FC-4278-B96F-6276030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CB9F8-7AF8-42B0-9C59-AA5B0D9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4107-52CE-4991-BFAE-5EFEAFC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9BBC6-1A79-410F-A448-F9E2DB23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21AA1-713A-4D24-BBFD-7B34BDB6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人数の偏り、割合、組み合わせの多さを確認する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7A2D4-7033-4B27-8C69-1A521AE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9259-576D-40CD-B5AE-E90C5B7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検定ではなく、まず実数と割合を読むための分析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D6D4E-098B-425C-B794-146177F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ED4DD-56E2-4971-BBA9-DB5124B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アンケート項目同士の関係の下見に向いている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8A271-5D4C-472F-9B7B-319ED1F5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96745-80A2-4683-87A6-969EE61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6E478-0441-4652-BC0B-CDB4A5FA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103D6-CBC4-4B64-B345-35140BF4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783141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13287-BAC2-4D73-A1BF-6CB075F6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144F-287E-4781-967B-7B5B772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BE9B2-16B3-417C-A870-D35FEB75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E5BAE-A6D4-41A5-8969-16BFF4F5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43A64-6853-4B26-8FDD-10FDEA6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CROSSTAB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68179-CCA9-4C01-9343-B6840F9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AA113-0B18-49D8-8EF6-089F6EF0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58708-4608-4D90-915C-828BDE7F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6194-77E6-489E-A0A2-E650A47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クロス集計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B697D-F955-4B03-B295-61FE00D7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行変数と列変数は、比較したい視点で決める。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AE9B-7A7B-44B1-98B5-C9C0584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行=クラス、列=満足度なら「クラスごとの差」が見える。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AB776-86AD-46D8-8921-641B7227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27be64f7648d9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DD579-106D-4C01-AD96-5ADFADA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C11E8-E311-44DC-9FE2-0BBC6A2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AE206-EC4B-4A14-A218-EA30E539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48EC5-6997-45A9-A01B-89EE2AC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DF8A5-F87A-490E-9066-DDB79106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行には「比べたいグループ」を置くと読みやすい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A80AD-973C-41EC-AA19-B4381FE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85704-0AC4-49DF-9511-1DCCB8E6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列には「回答・状態・分類」を置くと内訳が見える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E9CDF-15CC-44E3-A9EF-4D8428B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D5534-B8F3-465E-A5F1-7A8956A6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度数だけでなく行%・列%・全体%を切り替える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E4D12-6FCB-4664-93E0-0B3C126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423C1-66E6-4335-A0C5-3542BF4E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A71A1-37A1-4A28-8E6C-A4A3460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41974-0A37-45B0-913D-9B61C574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2966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CF8932-149E-4367-8C1F-DD02B4A8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E6161-C755-4D28-928C-DC96169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B49ED-5664-4055-83F0-87365B4C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5627B-1B82-4970-AF8E-C5A4A62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66D41-0186-4113-9191-98CBF9D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CROSSTAB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66EF3-689D-4C35-9B41-85B063B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045A3-E4AD-47BC-91F9-7E5A9F9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FC9EC-328A-49C8-893E-836CC694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D3E28-27BC-4527-980B-FF8E7C2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クロス集計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5E82E-06EC-4BD6-8BBA-D0D22D0F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度数表は、大きいセルと割合の偏りを読む。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98CE1-D401-49C9-AFDE-30664070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「Aクラスは高満足が多い」のように表のセルから書く。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29B18-DEE6-4D3C-9DB4-1829B05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c6dafa4224bc2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AA1FB-1685-4E16-A4E2-E28ED475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8EC8E-F050-4282-B8BE-19CFD83A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D716-3CF9-4E23-8553-AC4DFABF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E1CDA-168E-4846-A161-FEDB10A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27273-1E1D-4CCE-A8B8-F179C748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合計行・合計列で母数を先に確認する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36833-65E0-47EB-AB4F-BDD10C4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321BD-B28C-4C04-B268-EAD2D21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ヒートマップは多い組み合わせを素早く見つける補助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5F4EF-7462-4B52-ACE2-8F89ACA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40424-DBEF-492C-A7B7-89E5B186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人数が少ないセルは強く言いすぎない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3964-A803-4274-929E-8010EB15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079C5-ECEB-43DF-9A8A-B7593C85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7DF7D-D940-4D22-BB4E-ED21749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3BAB16-47EE-4236-9F23-E46181CD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79509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1A60B-AAEB-4B2E-B246-E5DA195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9B939-C623-45C3-AE4E-6AE13224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53C6C-295B-41A0-A9E8-5D0E8DE3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94CD5-2C25-4590-84CF-4DF3C549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63873-1D52-40D9-9242-766D441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CORRELATION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709FE-6B31-445C-B465-9158DB29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C0B38-1CF9-44C9-BEF4-0BD5BCF5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145E9-7416-48B8-B64E-DC902E60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3DECC-6280-42FE-9D64-C2D98067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相関分析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296FB-FC3B-48A9-9A77-38B7D2D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相関分析は、数値同士が一緒に動くかを見る。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CE7CC-C5FE-44C6-837B-2EB2A314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学習時間が長いほど数学の点数が高いか。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45DEE-B802-45AC-88B7-B2587CB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b9a2838f8447f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96DE0-83EA-41C8-9AD1-928849B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F6BD3-99C4-43EB-9739-AA20D6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1D5BD-50DD-4495-8F6D-54131A3F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17666-F5BC-4970-B941-AA047BC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3DFC0-0678-461E-A2A0-6055BC8F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相関係数 r は-1から+1で関係の向きと強さを表す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0E190-E507-43BF-874B-3F67D7D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939C1-3F31-423B-AD70-AABE65F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p値は「偶然だけで説明しにくいか」を見る指標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A8EAA-AD15-49AA-A286-5C64D5B8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4F390-ED9B-4AE6-BB6B-3A3BB48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相関だけでは原因と結果は決められない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DA311-4253-4052-8123-B78DF99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DB3C5-B1B8-4B8D-8092-4DCAFA4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F9343-E41E-49AF-A113-31761F6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9839A-021C-4F04-A590-A5B3351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101941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DC345-322B-4286-B981-9316A2B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BBC5A-4799-4B6C-B09C-C6562CA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D3FDE-5D1A-4C8C-B13D-495BF616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A805B-CCAC-4D05-AC02-286439E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00BB1-9489-4846-B608-7F9E06D5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CORRELATION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E9FF2-7131-4F1F-BB28-CE7FB91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95A53-AAC1-4461-AEC0-E482BB0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5294D-1F33-495C-86CB-97EC85AD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18575-BC73-43D4-BF37-06EAA2D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相関分析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1426-7222-4FDF-AC90-D2E7F99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相関では、2つ以上の数値変数を選ぶ。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6A971-DC7A-4E80-BD0E-6C4057C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数学・英語・学習時間を選ぶと相関行列で比較できる。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14173-BF60-41EA-BE06-51741A5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bc424f4e14f8c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DC731-5A7E-4BD8-9FA9-FA3EF38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9275D-D1BE-4EAA-88EF-6C3CFE21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78FAC-0490-44EE-8787-7115D788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CE954-4462-4E6D-AB98-8F8854F2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C608D-2188-4290-8D32-5249F36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直線的な関係を見るならピアソン相関を使う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61954-32C4-4D0B-B7EB-E77A2C0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D84B5-37B6-4368-91E6-943A38A7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順位の関係や外れ値が気になるならスピアマンも候補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01391-16B0-443C-A551-0416079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86A73-F2D9-4352-821F-2332425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変数名を見て、同じ意味の重複列を入れすぎない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A6CE5-69E6-4E28-A456-42FB491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A5D12-FED5-452B-A1A7-85DD0E06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A678A-551C-48D6-A1D8-F082823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934B8-8A5E-451B-A56A-A54516B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520153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9F77D-4EB5-41CB-A3CA-1B524D8A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12311-3703-4BA9-BA62-98F2BC8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CBA28-2C81-4498-A108-68AFEC2B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24B00-70EE-43AC-8D11-5DF9904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EB8AB-6498-4263-BAA5-ED251F1D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CORRELATION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0B827-5AD4-41D0-B049-C6C7BB27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4822D-3244-4C9B-B3EE-1E42FFD4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74DA4-42B9-4CCC-904A-7A3F04B9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9BB32-7059-4A88-976F-557EB3E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相関分析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EC6D1-C089-40F1-A8FF-E2ED0D01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r、p値、信頼区間、散布図をセットで読む。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D8695-84F4-4D88-8571-CE60B03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「高いほど高い傾向」と書き、因果表現を避ける。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A8256-D163-4328-A5C8-DC20AF43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546086ace4911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04E58-663D-4C97-89F7-7D844F7D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1B673-4EB1-4B99-83E4-FFA0CB7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EAC92-48CB-40FE-B75F-D5B29F7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06741-DE5F-482C-98D8-B308FD09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428B0-D001-4CC9-AB79-4D6D2DD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rが大きいほど関係は強いが、実質的な意味も見る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C7209-E3EE-4597-B122-BD6FB47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859F3-3E41-45BA-9C4C-81C63CE0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 &lt; .05でも、サンプルや外れ値の影響を確認する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ED6AF-B790-4FEA-9E40-1242EFA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CC53E-4B27-4A40-A981-A472DF87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レポートでは「関係がある可能性」に留める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C5FEB-B5C1-4923-8E46-C99B456B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CF304-5D02-4AC9-862F-B28153B4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71805-0E0B-416F-ABBA-6C5FF456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F61A4-D753-468A-A763-7F2D4E61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5613398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9DD6A-F132-4DFB-AB15-353B2E42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57A31-5680-47D5-A69B-498A495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900A-B6F1-4F79-AC95-C4F340B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86047-9B7F-46A3-BA7F-D2C6EFB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80B81-32D0-43A9-8467-6B8047B8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T-TEST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91F6-C08A-44EF-A3A4-BCD99A95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03103-E168-47AB-A180-9FE79EEE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98BD5-1795-4E56-B580-AFB2650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96019-344B-43A0-9277-DDCB407C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t検定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55E49-6C56-48AC-89DA-B68CB87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t検定は、2つの平均に差があるかを調べる。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7FCE5-BF43-4B61-9E30-7D9A6484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高群と低群で情報リテラシー得点が違うか。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4158A-BB4C-48EE-BD0D-9A8D4334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1b68d9ee54d2f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99CE7-AD25-4E45-8FBE-A014ACC9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CEB88-62AE-4FAB-BE64-58927F65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435FC-45D5-4404-81F7-4426E80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C4745-3463-4754-B057-FC84056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97B73-A671-4DF7-8CFF-EB3BB349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2群の平均値を比べるときに使う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1EF8F-5C0C-4567-B394-0C34CEB8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705D6-B46F-4DB0-B1C0-E2FC1F2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対応なし・対応あり・1サンプルを目的で選ぶ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C55C6-EC91-4338-A4B6-79DBD24B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C4F30-BD96-42C3-B332-ECADF8DB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p値だけでなく効果量 d も見る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45A1F-2D72-45B9-8C64-38A6580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1CA5B-0DAD-48F7-B332-EB5D29BE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6C129-A468-4BC8-9ED4-A4D7CD0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5F3EA-9D45-4BE1-AF10-96631E7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0563780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C73F7-9617-490F-BFE6-F4E8256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C57E-CFEB-43DA-8B94-4829C3E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0CC19-0848-4D9F-B8E1-64A38345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ECF7-EEB7-4890-8235-BE6A6A6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0BC3A-1404-4CBE-9793-C731A33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T-TEST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4759-57DC-41C4-B299-B271555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FDC4-CE99-4B30-A115-EA9CF322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12724-41CF-412E-BF31-7FA9770E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FD6DF-1CCE-45BE-BC35-CE0E26E7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t検定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5EEA9-0BBB-47A4-B3AD-D5C3E66E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グループ変数は2群、従属変数は数値を選ぶ。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4A364-7E38-44F3-A169-E091694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グループ=DigComp群、従属変数=情報リテラシー_事後。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02466-D758-44FA-87B8-7CB4901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3101672884ca1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1AD95-45C6-405D-A423-A1053F3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5A123-3EEB-4DB6-A55A-566CD93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3F1DE-A41A-4E56-A508-99BDA337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1765C-FD2E-4D60-AF83-FB8EC544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39E96-76B3-490B-85C6-DA8EB7B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グループ変数はカテゴリ変数で、値が2種類である必要がある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C9FC5-7DFA-4219-AC25-C7C5BD2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B18FB-EECE-43BD-9ADC-16BEC6FA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従属変数は平均を比べたい数値列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8334B-9900-42C3-9C9F-196D2DFE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4268E-6FE9-4D24-A7B7-2B6B204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複数の従属変数を選んだときは、解釈を1つずつ分ける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09850-7B5F-4E15-837D-4C07701D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4D69F-7218-4AB8-8065-112B3E1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A78D0-3F4F-4541-918A-97AF5C40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A44C1-A22D-4075-AC96-4EC108D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5232338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F0651A-5002-4E9C-96B6-BBEA322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B4D83-3A2D-4153-B67A-4774E376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D142B-5CE6-411E-A4FA-AC666F4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89F32-6FEE-4D4D-BB24-C03636D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99CE4-A856-4AEB-962C-7C37716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T-TEST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8A7AE-04F1-4A37-BCDF-311C4B19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A369D-272A-458D-8D5F-D75B867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FE32F-28E0-4126-BB2E-3F71C2B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DCCA8-4CF8-4822-B230-C9BA90E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t検定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FEE6A-B88B-48F7-91DE-60E7DB8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平均差、t、df、p、dを一緒に読む。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5CC15-0A69-45B4-A32B-007C7FED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「どちらが高いか」と「差の大きさ」を同じ文に入れる。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0AB67-4BC3-484C-8D46-2780D4C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6c371bbea476d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2D1A8-2887-42D6-859E-F8F22A98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865FC-6981-4FB2-80B4-8908BAFD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EEAFC-DD54-4C33-A92C-C4A6531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59F45-5558-43DE-B479-0980C9E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035C7-305E-4FFF-B8CD-D1237B6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まず各群の平均と標準偏差を比較する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E8032-CA79-4083-9503-3F031CC9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7976D-3E9E-41EC-9031-5F50F971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p値で差の有無、dで差の大きさを確認する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B9782-D921-4811-9D8F-0C446D8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5F472-2F16-4F48-9D3E-5EFB7D7C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等分散性やサンプルサイズの偏りも注意点に入れる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595D2-29C2-4DD6-BCB3-644C084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4A261-1414-4A98-A21B-B9C6C4F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B44C9-D3C7-4FC2-AA4C-E26EFE11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7B5D9-ADD4-41FC-AEA2-15E6198B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0977759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9A5CF-719E-4A4F-97E1-87E8361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4D261-9D8E-4CAB-9D33-AF146511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EB9F2-DBF3-4F92-8023-12473C06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EF20E-3ACC-4F61-B361-2D2008E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72D4E-3CAB-4F96-882F-4F157E9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ANOVA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B3775-9AF5-49C1-A296-492413C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09F1B-2529-4AD8-8F15-F31886D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F2ADA-565E-4BB1-8238-62133385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D3472-9B19-4071-B24E-A09F9D15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分散分析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222B0-C141-4661-B917-4F6CD4E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分散分析は、3群以上の平均差をまとめて見る。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D49E1-71D1-484E-B6F7-D6AE748A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指導法ごとにテスト得点が違うか。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C7A41-366A-4437-927B-CB50CB9D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e59596874385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90CBC-32EB-4B94-BC45-162C2123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15652-9525-4E53-88AD-765F03F9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B52BE-F534-40CD-9E50-B531301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E56DB-C488-47E5-A203-2E7D191A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E5089-5321-40C4-ACC2-74E7CED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複数グループを何度もt検定しないために使う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2D8E0-9B13-44B5-96A1-9487B8C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29720-CAFC-4327-BD6E-EF09CC0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F値とp値で、どこかに差がありそうかを判断する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F8303-6BD9-46DF-B60D-C8760D6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FEAD1-12CE-4002-9A20-13222C88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差がある場合は多重比較でどの群が違うかを見る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ED221-7DFA-44F9-9B7A-38092C2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CE24A-4EEF-4441-A46B-7854348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D070C-5D16-41B5-8438-09B21D1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D4949-FC7E-48BE-86D0-5AC5E5D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732050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EFD07-3E66-40AD-8C91-A75FC58B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5D0E8-18AE-42CD-8273-4232ED7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AB56A-46E3-45EA-92DC-D517EBC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68371-716F-4675-8398-9C37C7BC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747D-1862-47BB-90B3-AB419A82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ANOVA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AD83E-2599-43F5-82FA-23A94EA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0E6DC-A909-4A4F-A4D3-8838668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2302C-6F83-4CEA-ACE1-D444E64C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28281-7011-4495-8204-CA67B84B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分散分析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3D39B-10F5-492A-89D2-0FA9040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要因はカテゴリ、従属変数は数値で選ぶ。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6EF15-F1DD-4FBF-B3F9-2D3B8E8A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要因=指導法、従属変数=テスト1_事後。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296DF-97F6-4B87-8C83-42D7E1A5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50a3469d4bb0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3BC8E-1777-4B90-AD7B-127D843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1C32D-306D-4826-9F3D-3F9DFC6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81D27-C09C-44BD-B3B7-5B008031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D5C1D-B24B-4DFE-92E2-BA6BF406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C0815-2D6F-4503-97EA-F3A7F01E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要因は3群以上のグループ変数を選ぶ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04892-276B-44A6-AB99-0645E32E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68EFF-AE47-42C5-AA52-E07831A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従属変数は平均を比較したい得点や尺度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06C6C-29C6-467C-A2C7-0B0299B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A8C84-7358-49B7-A690-1E582FF8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Tukey-Kramerなど多重比較の方法も確認する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E444B-A78F-4667-861A-975394C0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CB8FA-3B06-4133-9E57-C8F3135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98A63-161C-42C4-A096-C7F05F4E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F891B-BBB7-430D-985F-3792F79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7694274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0A350-DA19-4E49-BB4F-852F3C0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57DCA-1826-42ED-B139-E9C23458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C4C87-67D8-44DD-A0EA-C24F3DE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6F82D-4A3F-4ECF-BC6B-7B6EA18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FA34A-0231-4BE7-9301-EC47203E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ANOVA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6C23F-C18C-4657-B9F2-62520F8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E2F54-B7FB-499E-A698-89E272BC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1C323-1E22-439C-A2E6-50F74AE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44573-73DC-4048-9623-8AAE346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分散分析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56E5D-08F0-4A5A-81AD-D0A7C52A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Fとpで全体差、η²で大きさ、多重比較で場所を見る。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6AF5E-D251-4132-9BC1-BC0BD86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「全体で差がある」だけで止めず、群名まで書く。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A7134-2399-4AD1-9BBF-69DEFE8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c101dbc8a40b2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1F9EB-163B-4CC2-835C-1D7976C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F610E-DF82-44B1-B1DA-DF130E9A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5227B-15A6-41D9-9322-69BC150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A0C03-8C1C-4364-AA72-DF9B289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08467-15B7-4566-A980-3DEEFDB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 &lt; .05なら、どこかの群に平均差がある可能性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C2D4F-0B89-4BDC-916E-C3CBD49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2557E-BDE4-4A3F-AD69-902B981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η²やω²で差の実質的な大きさを見る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944E8-1618-4C50-926C-C32139C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3103C-EBE7-429F-A42D-C5C8B7C1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多重比較は「どの群同士が違うか」を説明する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B4423-9D54-40F4-89F9-83A483B5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DE52E-43BC-4F6C-9CF3-F518B272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4A4E3-BFB6-41DD-8627-EB3008A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404C2-8FD2-489D-9CDA-156B89D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699053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EFF0C-1493-4260-BFDB-E00CF9D5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47DA9-C1F4-4B83-955E-5D3CC016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67CD9-CB3C-4C68-8B2A-76AF696F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34100-0B41-4DE7-853C-D5BFBFF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2985C-34EB-4CA4-BC9D-6A6343DF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CHI-SQUARE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0C9CF-F36D-4A69-ABB8-5B1209DA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0C783-7388-4186-8A85-29EA4DD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70615-4A9C-42B2-B6B4-E93C0B3C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E3EC-87F9-41B8-A7FC-3550D534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カイ二乗検定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348E4-DDE9-4F9F-871F-287C586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カイ二乗検定は、カテゴリ同士の関連を検定する。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512C6-B170-4954-95B7-F4E6734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性別と満足度に関連があるか。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EFB1-D3EB-4A06-8744-205C042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f7dd3a1054143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10C87-30C7-496E-9137-23E64B66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3CE24-0585-4B02-BFD3-3FCC47B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BF1C9-0061-4B92-8E0D-0580FEA2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19F73-B0FC-4C20-A5E1-E55E8625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F5EC0-49D6-41F3-B150-721B7C10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観測度数と期待度数のズレが大きいかを見る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A3CFD-80B5-4F21-A82F-9B7F842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88B72-2A8A-4DD4-B2E9-DE67D46C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クロス集計の次に、関連が偶然かを検討する分析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D3E88-C1FF-4FFF-A6E5-880B0A0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BD22E-637D-4F44-A0CF-99A43AA1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人数が少ないセルが多いと解釈に注意が必要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C0558-410E-4F5E-9384-A9FDF975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8C5BC-7890-4B97-909F-4B3A0696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797A8-DAB2-4418-88F1-72590CC5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F1A35-27F3-41B5-AC14-BFA92774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9721923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B0B92-4C31-4757-A517-C4CFFC9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4EB25-B086-48D4-97DF-F3E341F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24AA0-5467-41C6-8778-776A1544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2CB63-9CB9-4FD1-AB78-C8A6C5C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E8007-5D6C-4670-A2DF-24AC28B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CHI-SQUARE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FC947-CFB4-4CC4-907B-98548F6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B9A1B-B5AB-4F79-AB79-6FE0B01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D196B-7403-47FE-8D3F-90FB809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2C7C8-A446-4348-AE19-27033C9E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カイ二乗検定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5F49B-B9B8-43E8-BE3C-DEAB33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行変数・列変数にはカテゴリ変数を選ぶ。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179AA-D72F-41AC-98C9-EF538AD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行=性別、列=満足度で独立性を検定する。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14B39-5ABE-4294-8A7F-1BA77F8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f8047662945a6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47201-25DD-44C4-A50E-70AF06EB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9A17B-51E4-4115-B8FE-6B5EA7E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2AB21-DFCB-466B-9CED-DA7D210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0CE1E-98CF-417C-A37D-FA75820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B88B1-A938-466F-9D6C-70C06D7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同じ変数を行と列に入れない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709CD-9539-4CAB-96D7-37E76F5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C097A-9DB6-4814-ACE9-8EDCCC9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2×2表ではYates補正やオッズ比も参考になる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AF5C1-B484-4579-AD2C-278A33B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93B5B-DC6F-4F7A-AE55-F907C60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期待度数が小さい場合は結果の強さを控えめに書く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ED115-82BA-420F-9C95-4F5BB8C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42D03-50D7-430E-AFEE-C06F9FD2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047C8-780C-45AD-B01E-5A735027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3DDC4-40E9-4A51-86EC-08F57931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9497831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04358-335A-45D3-B690-7AC3ABD4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EEBF-39D3-449A-80A0-AF0366C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93B20-577F-4838-A3BF-6FAFEF0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6D4DA-FA75-4DCA-9C67-E25BE9D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ED16E-43D6-4891-9F0B-502E2E82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CHI-SQUARE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7BB93-7DDF-45C6-B110-2385509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B0AC2-825F-4557-B473-9F7F46EB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F6064-38CD-46F0-81DF-2F28A1C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B7F2C-463F-47D9-9DED-7D8A0EA7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カイ二乗検定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6AF14-2E8A-4096-82A2-0DD86882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χ²、df、p、CramerのV、残差を読む。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25C47-82F3-4D86-8F08-E36A335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「どの組み合わせが多いか」を表に戻って確認する。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13F31-3818-4B02-82AD-EC74DFC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afae1f4f64a59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040DB-34FB-4465-8900-7DEFC397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AAE0B-6E52-42BE-ADB4-6D5D4F5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FCE0A-5F94-4F30-9E42-D31C45D6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F1CD2-6268-4C59-9EF9-623ED335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E5FAE-4E8C-4C22-A6A2-1877BA9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p値は関連の有無、Vは関連の強さを見る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196E3-E3DF-44A8-9296-84C298A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91E03-39D6-4DC8-8154-55B6CBF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調整済み残差でどのセルが多い/少ないか確認する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AEF45-8A33-4A71-8087-0656526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B0E33-6775-430C-BE57-5AF2ADA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関連は因果ではなく、分布の偏りとして説明する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05325-7B4E-45E1-9380-0637986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03591-AB77-4892-A5D9-9FDDB37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CABE8-CAD8-4871-B58E-342896AF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2A6C8-766A-4CDD-98E5-09F89120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5663295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22A37-FBFB-4779-9FEE-824C801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BE1D8-D1C5-42E4-AA97-92B75E0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2792D-52E2-4676-BA72-BDF5FB1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4F1A3-7BA5-402B-B609-5314294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A88F5-34C8-4CCB-83F3-17CEB3E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SIMPLE REGRESSION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2BCB1-89EE-431E-9E67-3CCA87E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44BD2-98BB-40B3-9420-D086D33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6FEC3-E824-4089-BB1A-16A6225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037F6-3BC7-4D2F-BB7D-E590E86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単回帰分析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63861-A7B4-407B-9A1E-FB3AD0D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単回帰は、1つの説明変数で結果を予測する。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FFA2E-3551-446F-8532-D475DFD6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ICT利用時間から学習達成度を予測する。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3306A-A530-4FA2-8C2E-7DFBB437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b3a0bf3c64a8d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CD0FD-8264-4B51-ABC9-15B050E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24A9A-6E31-4C29-AADD-E96F5B3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109B7-3CD1-42F5-A981-69031D6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D5F04-8D8E-421E-99A6-858AAC6C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BEAB4-889D-4060-B248-78C99FD8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Xが1増えたときYがどれだけ変わるかを式で表す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C8E1D-0644-4C18-9DBF-8DC33BE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678B3-C5A9-47DE-9824-B1D733E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相関より一歩進んで、予測式を作る分析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15B92-BA76-429B-8B0B-820FCC51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F6C5D-A405-47E0-8694-15FFD6AD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それでも観察データだけでは因果は言い切れない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5064D-0CBA-4F16-B4C1-FE2A53ED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D7FBE-9670-4A76-99D0-EC318E4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F1F45-062D-4513-BFB0-C6BA0938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E533A-E11A-4086-A5BD-BE70885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9539473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65DAF-EE38-4B5F-B86C-402B842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2E0A8-8C6F-48D3-8210-D4BEC995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4445-F41F-440C-B018-69917D8B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2CDC9-FE29-4484-A217-5A301DD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0CF0-53E1-419B-BF8B-09F56514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SIMPLE REGRESSION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ED8A-23F3-4ACF-ADAB-3CB8289A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23A07-E6E2-476E-A011-1233F63F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30B6B-07BE-403E-AFCC-229A6336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1E3E1-7219-472E-890E-D6EE96F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単回帰分析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B9267-DFB9-420D-A7A9-1ACDD83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説明変数Xと目的変数Yを明確に分ける。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CB450-2790-45F3-941B-324A4AE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X=ICT利用時間、Y=学習達成度。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B9E3A-5669-4AB3-9A03-32E52B7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7aced338f4f47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53C0A-BB1A-4AC5-87EC-745216C3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CF25E-0533-462A-8156-78CF74B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56EED-1C6D-41D4-B5B4-06D900C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A20C9-968A-4AAE-B808-0D511D91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B80A6-E016-4B88-8638-C0C3CD0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Xは予測に使う数値列、Yは予測したい数値列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1ECD0-7486-42A3-B7A3-BED1FCB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AAA0F-DE14-40F2-89FE-94019EB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XとYを逆にすると式の意味が変わる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7E954-F0C1-4745-97C6-5D66A93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86259-9AC0-4651-B9D8-F723FD65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散布図で直線関係と外れ値を先に確認する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3D732-3409-4D4F-8B47-E7D1586A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5E36B-6202-4F6D-9C4A-26C4C2A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7921B-7827-46FE-9BE7-DAEA30E3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E5A51-5F8E-499A-AF15-78F1D4A1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065804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A4DC3-E33D-4EEE-809D-17762743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CBE95-B349-4AD8-AC11-04D2BD5D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7A22A-A449-4DED-8CD3-0B29418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B3F5B-53C9-423F-AE56-D8F8E28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D1F05-4B03-4D59-B31B-E81739A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SIMPLE REGRESSION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BCC4A-62C6-489B-906C-A04721A3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550B7-ABD3-48E9-8597-1ABAB14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FC11D-625A-467A-88C3-E30ECC3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A04E2-35B1-45B3-9BCB-EE6AC1A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単回帰分析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38348-E671-4A61-86E8-4C5E3E0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回帰式、傾き、R²、p値、残差を見る。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03D72-775A-4B92-A390-1000250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「1時間増えると何点変わるか」を具体的に書く。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9BF0A-4026-4B85-AFAA-3DE45BA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2e2dddbdc4ce9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A7107-78FA-45C8-AFB5-028BBE98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B89CC-45F8-40D2-89BC-87C16CD1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36E01-EFF6-4D0E-A7DD-1059D51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80F91-8132-41B6-B3AA-4B876B9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CDB89-2D53-440A-BB52-4B4296C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傾きはXが1増えたときのYの変化量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1A1EC-794E-4041-82FF-20CFD1A7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64BE7-DECD-4F21-B90C-A0C744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R²は予測できている割合の目安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7F224-17D3-497D-8DBB-1929CC37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8C6AF-3B56-4C25-8829-210F65E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残差図で直線モデルが無理をしていないか確認する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9358B-4752-4FED-AE0F-FE1EE33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83353-2D5F-4706-BA77-1116242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31321-9C93-4CAF-8EEF-DA03B67D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C0E107-CF60-4178-AF26-63786791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3796567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1E0AF-E66E-44D3-B408-18B20A84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DD812-4CCC-469D-AFBB-D8022123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74E31-285C-4C7E-B2D1-4890A7A8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93087-13F4-4F8A-9C36-025B4D57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8439D-8288-4EC9-B714-838910C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MULTIPLE REGRESSION /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F40E9-D45D-4584-B9C6-6BDFEC44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CF982-9160-4F99-A989-2485053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概要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7B5C3-91B8-41E6-905B-D53C7E69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28967-8ACF-4648-BB3E-975B90D3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重回帰分析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D0059-28F2-4479-8E29-5E5F30CC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重回帰は、複数の要因から結果を予測する。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44DF7-3041-46D7-9CB8-43D90FF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例: ICT利用、教材活用、自己調整から達成度を予測する。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D1F9B-C4FF-4C89-BEC8-C560965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c98b8d710412e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6FBC9-D648-453C-8652-461CDD8F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77B60-0730-4E01-86CA-B345B4F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FC543-A177-4B99-9216-BC48112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3A23E-330E-4D3C-95BB-7ED261D1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6FE50-30DF-4B15-981C-CC6882E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他の変数を同時に入れて、各要因の独自の関係を見る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AF16C-ED98-4A66-A1B4-AF2E0DFD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3D0CF-76B3-4B92-94D4-219776C8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説明変数が多いほど良いとは限らない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B79A3-6845-4B7A-953E-A39FEA1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42A66-4EF3-4F5D-82A1-14C416B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研究の問いに関係する変数だけを選ぶ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D6B01-7531-4422-BC22-E60243D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0A470-6134-4575-9624-3E7CFAD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1E277-47B0-4C30-A7DE-8E99E1D3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B0AFE-5A5B-4BA6-99C1-BAE4584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7865915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2F59A-3F50-425B-94C5-2F2EF25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F2AF6-BB1D-40A6-B7F7-FA83391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2C021-5717-4C41-8236-49F8AD1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48FD0-89BA-42C3-BC2E-E4D3108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63B25-58E9-44C8-8287-2B13B5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MULTIPLE REGRESSION /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630AD-7478-4C06-A270-A0E76BCB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31D04-E6C3-483F-9B85-D91451B7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3BBE1-1AFB-4DB5-BAA9-39181CC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B6282-07DC-42D5-B73F-9C1748E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重回帰分析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8B9F-9061-4E8B-B379-ECC37A56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目的変数と複数の説明変数を、役割で分ける。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8943-E33C-414E-B375-0D4D26FB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Y=学習達成度、X=ICT利用時間など複数列。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65271-ED17-40D4-9A4C-CA09EE19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98822d9464d32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90C28-F2BC-412A-B321-D6F9B93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6F59E-5716-4D04-90E7-D3BA9B2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5A1E0-910E-4464-AE2B-5C8455A5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0EF46-D15A-49C4-BDE4-2229068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D3125-C079-4152-A6B3-E9D97E53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目的変数は1つに絞ると解釈しやすい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15C89-D1DF-4FF1-A282-2A91372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838AA-4642-4976-913A-ECF002C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説明変数同士が似すぎていないかを考える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C0DE1-77E9-48CC-AB01-F92AED6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6AFD1-CA93-46E4-802E-0C2E815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入れた変数の理由をレポートに残す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F3902-9B34-43ED-AEFC-C053AD84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DC425-3625-43C6-B3B8-A1778EB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99C73-F030-49B7-A862-56079A2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5F28A-4688-4579-B4A7-D7432D01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383034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4389C-BA94-4F81-AE0A-27DCD6F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E05B2-2F32-4993-8211-1548A54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BE94A-B343-4023-BABC-6BD5D860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52091-1D4E-4E7F-9EA7-5244E829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EA618-CF73-49EE-B148-B344D2B1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MULTIPLE REGRESSION /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71AC6-1249-412E-B9C6-2855251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B128C-6AFB-4F13-8486-473CF1A0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47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5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E6"/>
                </a:solidFill>
                <a:latin typeface="Aptos"/>
                <a:ea typeface="Aptos"/>
                <a:cs typeface="Aptos"/>
              </a:rPr>
              <a:t>結果の解釈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D51BE-AF7E-4C18-9A0C-9A8F36BF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1DAC-594C-4E2C-8D52-1A4D6AF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457E6"/>
                </a:solidFill>
                <a:latin typeface="Hiragino Sans"/>
                <a:ea typeface="Hiragino Sans"/>
                <a:cs typeface="Hiragino Sans"/>
              </a:rPr>
              <a:t>重回帰分析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F45F8-9D53-4E43-997F-904E0CB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5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R²と各係数を見て、どの要因が効いているか読む。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0605D-20D6-4331-A9F5-9A20BEC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「他の変数を考慮しても関係が残るか」を読む。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5644-A090-4774-93EF-8B1CA21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00200"/>
            <a:ext cx="8191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c6a14d6e04484"/>
          <a:srcRect xmlns:a="http://schemas.openxmlformats.org/drawingml/2006/main" l="0" t="3934" r="0" b="3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676400"/>
            <a:ext cx="8039100" cy="462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8956A-4EC1-4E69-B087-D0AD670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7A6D3-7C08-40F3-8837-E9901DB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28C5D-F7AD-4C27-BCA0-5F020A1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見るポイント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1BCDA-3839-4D84-86E6-2C4F2448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0AD4B-CDC4-41DD-B47B-1BC61CD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R²はモデル全体の説明力を示す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AF772-2C5B-40DB-92BB-CB4A4C6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E7A92-6EB2-416F-AE10-F23CC20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標準化係数βは要因同士の強さ比較に使う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448B6-654D-434D-B8DA-774D47B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3B96-E48F-4FC1-9A44-8DE2A60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3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VIFや残差でモデルの妥当性も確認する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9FC57-8490-4F6E-9C9A-364AE65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4B0F1-C190-42AC-BFBB-BF7F49B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102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レポートでは、数値を写すだけでなく、問いに合わせて意味・限界・次の分析へつなげる。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BE1DA-8438-4CFD-9FD2-F9EA2459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easyStat data-driven inquiry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0AAD6-C030-4291-9789-AEE59922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1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170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43651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2026-05-05T16:26:14.7560000Z</dcterms:created>
  <dcterms:modified xsi:type="dcterms:W3CDTF">2026-05-05T16:26:14.7560000Z</dcterms:modified>
</coreProperties>
</file>